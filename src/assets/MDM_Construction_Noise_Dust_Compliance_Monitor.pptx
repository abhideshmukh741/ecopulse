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118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E33"/>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206240" cy="4206240"/>
          </a:xfrm>
          <a:prstGeom prst="ellipse">
            <a:avLst/>
          </a:prstGeom>
          <a:solidFill>
            <a:srgbClr val="1E2024"/>
          </a:solidFill>
          <a:ln/>
        </p:spPr>
      </p:sp>
      <p:sp>
        <p:nvSpPr>
          <p:cNvPr id="3" name="Shape 1"/>
          <p:cNvSpPr/>
          <p:nvPr/>
        </p:nvSpPr>
        <p:spPr>
          <a:xfrm>
            <a:off x="-1463040" y="5120640"/>
            <a:ext cx="3474720" cy="3474720"/>
          </a:xfrm>
          <a:prstGeom prst="ellipse">
            <a:avLst/>
          </a:prstGeom>
          <a:solidFill>
            <a:srgbClr val="1E2024"/>
          </a:solidFill>
          <a:ln/>
        </p:spPr>
      </p:sp>
      <p:sp>
        <p:nvSpPr>
          <p:cNvPr id="6" name="Text 3"/>
          <p:cNvSpPr/>
          <p:nvPr/>
        </p:nvSpPr>
        <p:spPr>
          <a:xfrm>
            <a:off x="822960" y="1508760"/>
            <a:ext cx="9144000" cy="274320"/>
          </a:xfrm>
          <a:prstGeom prst="rect">
            <a:avLst/>
          </a:prstGeom>
          <a:noFill/>
          <a:ln/>
        </p:spPr>
        <p:txBody>
          <a:bodyPr wrap="square" rtlCol="0" anchor="ctr"/>
          <a:lstStyle/>
          <a:p>
            <a:pPr marL="0" indent="0">
              <a:buNone/>
            </a:pPr>
            <a:r>
              <a:rPr lang="en-US" sz="1100" b="1" kern="0" spc="100" dirty="0">
                <a:solidFill>
                  <a:srgbClr val="9AA0A6"/>
                </a:solidFill>
                <a:latin typeface="Calibri" pitchFamily="34" charset="0"/>
                <a:ea typeface="Calibri" pitchFamily="34" charset="-122"/>
                <a:cs typeface="Calibri" pitchFamily="34" charset="-120"/>
              </a:rPr>
              <a:t>MAHARASHTRA INSTITUTE OF TECHNOLOGY, CHH. SAMBHAJINAGAR</a:t>
            </a:r>
            <a:endParaRPr lang="en-US" sz="1100" dirty="0"/>
          </a:p>
        </p:txBody>
      </p:sp>
      <p:sp>
        <p:nvSpPr>
          <p:cNvPr id="7" name="Text 4"/>
          <p:cNvSpPr/>
          <p:nvPr/>
        </p:nvSpPr>
        <p:spPr>
          <a:xfrm>
            <a:off x="822960" y="1783080"/>
            <a:ext cx="9144000" cy="274320"/>
          </a:xfrm>
          <a:prstGeom prst="rect">
            <a:avLst/>
          </a:prstGeom>
          <a:noFill/>
          <a:ln/>
        </p:spPr>
        <p:txBody>
          <a:bodyPr wrap="square" rtlCol="0" anchor="ctr"/>
          <a:lstStyle/>
          <a:p>
            <a:pPr marL="0" indent="0">
              <a:buNone/>
            </a:pPr>
            <a:r>
              <a:rPr lang="en-US" sz="1250" i="1" dirty="0">
                <a:solidFill>
                  <a:srgbClr val="EA6A12"/>
                </a:solidFill>
                <a:latin typeface="Calibri" pitchFamily="34" charset="0"/>
                <a:ea typeface="Calibri" pitchFamily="34" charset="-122"/>
                <a:cs typeface="Calibri" pitchFamily="34" charset="-120"/>
              </a:rPr>
              <a:t>Minor Project (MDM) — Civil </a:t>
            </a:r>
            <a:endParaRPr lang="en-US" sz="1250" dirty="0"/>
          </a:p>
        </p:txBody>
      </p:sp>
      <p:sp>
        <p:nvSpPr>
          <p:cNvPr id="8" name="Text 5"/>
          <p:cNvSpPr/>
          <p:nvPr/>
        </p:nvSpPr>
        <p:spPr>
          <a:xfrm>
            <a:off x="777240" y="2148840"/>
            <a:ext cx="10058400" cy="1554480"/>
          </a:xfrm>
          <a:prstGeom prst="rect">
            <a:avLst/>
          </a:prstGeom>
          <a:noFill/>
          <a:ln/>
        </p:spPr>
        <p:txBody>
          <a:bodyPr wrap="square" rtlCol="0" anchor="ctr"/>
          <a:lstStyle/>
          <a:p>
            <a:pPr marL="0" indent="0">
              <a:lnSpc>
                <a:spcPct val="105000"/>
              </a:lnSpc>
              <a:buNone/>
            </a:pPr>
            <a:r>
              <a:rPr lang="en-US" sz="3600" b="1" dirty="0">
                <a:solidFill>
                  <a:srgbClr val="F5F3EE"/>
                </a:solidFill>
                <a:latin typeface="Cambria" pitchFamily="34" charset="0"/>
                <a:ea typeface="Cambria" pitchFamily="34" charset="-122"/>
                <a:cs typeface="Cambria" pitchFamily="34" charset="-120"/>
              </a:rPr>
              <a:t>Construction Site Noise</a:t>
            </a:r>
            <a:endParaRPr lang="en-US" sz="3600" dirty="0"/>
          </a:p>
          <a:p>
            <a:pPr marL="0" indent="0">
              <a:lnSpc>
                <a:spcPct val="105000"/>
              </a:lnSpc>
              <a:buNone/>
            </a:pPr>
            <a:r>
              <a:rPr lang="en-US" sz="3600" b="1" dirty="0">
                <a:solidFill>
                  <a:srgbClr val="F5F3EE"/>
                </a:solidFill>
                <a:latin typeface="Cambria" pitchFamily="34" charset="0"/>
                <a:ea typeface="Cambria" pitchFamily="34" charset="-122"/>
                <a:cs typeface="Cambria" pitchFamily="34" charset="-120"/>
              </a:rPr>
              <a:t>&amp; Dust Compliance Monitor</a:t>
            </a:r>
            <a:endParaRPr lang="en-US" sz="3600" dirty="0"/>
          </a:p>
        </p:txBody>
      </p:sp>
      <p:sp>
        <p:nvSpPr>
          <p:cNvPr id="9" name="Text 6"/>
          <p:cNvSpPr/>
          <p:nvPr/>
        </p:nvSpPr>
        <p:spPr>
          <a:xfrm>
            <a:off x="822960" y="3611880"/>
            <a:ext cx="9144000" cy="411480"/>
          </a:xfrm>
          <a:prstGeom prst="rect">
            <a:avLst/>
          </a:prstGeom>
          <a:noFill/>
          <a:ln/>
        </p:spPr>
        <p:txBody>
          <a:bodyPr wrap="square" rtlCol="0" anchor="ctr"/>
          <a:lstStyle/>
          <a:p>
            <a:pPr marL="0" indent="0">
              <a:buNone/>
            </a:pPr>
            <a:r>
              <a:rPr lang="en-US" sz="1550" i="1" dirty="0">
                <a:solidFill>
                  <a:srgbClr val="C9CDD1"/>
                </a:solidFill>
                <a:latin typeface="Calibri" pitchFamily="34" charset="0"/>
                <a:ea typeface="Calibri" pitchFamily="34" charset="-122"/>
                <a:cs typeface="Calibri" pitchFamily="34" charset="-120"/>
              </a:rPr>
              <a:t>A Software-Based Environmental Monitoring and Compliance System</a:t>
            </a:r>
            <a:endParaRPr lang="en-US" sz="1550" dirty="0"/>
          </a:p>
        </p:txBody>
      </p:sp>
      <p:sp>
        <p:nvSpPr>
          <p:cNvPr id="10" name="Shape 7"/>
          <p:cNvSpPr/>
          <p:nvPr/>
        </p:nvSpPr>
        <p:spPr>
          <a:xfrm>
            <a:off x="822960" y="4160520"/>
            <a:ext cx="10515600" cy="0"/>
          </a:xfrm>
          <a:prstGeom prst="line">
            <a:avLst/>
          </a:prstGeom>
          <a:noFill/>
          <a:ln w="12700">
            <a:solidFill>
              <a:srgbClr val="45494F"/>
            </a:solidFill>
            <a:prstDash val="solid"/>
          </a:ln>
        </p:spPr>
      </p:sp>
      <p:sp>
        <p:nvSpPr>
          <p:cNvPr id="11" name="Text 8"/>
          <p:cNvSpPr/>
          <p:nvPr/>
        </p:nvSpPr>
        <p:spPr>
          <a:xfrm>
            <a:off x="822960" y="4370832"/>
            <a:ext cx="4114800" cy="256032"/>
          </a:xfrm>
          <a:prstGeom prst="rect">
            <a:avLst/>
          </a:prstGeom>
          <a:noFill/>
          <a:ln/>
        </p:spPr>
        <p:txBody>
          <a:bodyPr wrap="square" rtlCol="0" anchor="ctr"/>
          <a:lstStyle/>
          <a:p>
            <a:pPr marL="0" indent="0">
              <a:buNone/>
            </a:pPr>
            <a:r>
              <a:rPr lang="en-US" sz="1000" b="1" kern="0" spc="100" dirty="0">
                <a:solidFill>
                  <a:srgbClr val="EA6A12"/>
                </a:solidFill>
                <a:latin typeface="Calibri" pitchFamily="34" charset="0"/>
                <a:ea typeface="Calibri" pitchFamily="34" charset="-122"/>
                <a:cs typeface="Calibri" pitchFamily="34" charset="-120"/>
              </a:rPr>
              <a:t>NAME</a:t>
            </a:r>
            <a:endParaRPr lang="en-US" sz="1000" dirty="0"/>
          </a:p>
        </p:txBody>
      </p:sp>
      <p:sp>
        <p:nvSpPr>
          <p:cNvPr id="12" name="Text 9"/>
          <p:cNvSpPr/>
          <p:nvPr/>
        </p:nvSpPr>
        <p:spPr>
          <a:xfrm>
            <a:off x="5120640" y="4370832"/>
            <a:ext cx="2743200" cy="256032"/>
          </a:xfrm>
          <a:prstGeom prst="rect">
            <a:avLst/>
          </a:prstGeom>
          <a:noFill/>
          <a:ln/>
        </p:spPr>
        <p:txBody>
          <a:bodyPr wrap="square" rtlCol="0" anchor="ctr"/>
          <a:lstStyle/>
          <a:p>
            <a:pPr marL="0" indent="0">
              <a:buNone/>
            </a:pPr>
            <a:r>
              <a:rPr lang="en-US" sz="1000" b="1" kern="0" spc="100" dirty="0">
                <a:solidFill>
                  <a:srgbClr val="EA6A12"/>
                </a:solidFill>
                <a:latin typeface="Calibri" pitchFamily="34" charset="0"/>
                <a:ea typeface="Calibri" pitchFamily="34" charset="-122"/>
                <a:cs typeface="Calibri" pitchFamily="34" charset="-120"/>
              </a:rPr>
              <a:t>ROLL NO.</a:t>
            </a:r>
            <a:endParaRPr lang="en-US" sz="1000" dirty="0"/>
          </a:p>
        </p:txBody>
      </p:sp>
      <p:sp>
        <p:nvSpPr>
          <p:cNvPr id="13" name="Text 10"/>
          <p:cNvSpPr/>
          <p:nvPr/>
        </p:nvSpPr>
        <p:spPr>
          <a:xfrm>
            <a:off x="7955280" y="4370832"/>
            <a:ext cx="2286000" cy="256032"/>
          </a:xfrm>
          <a:prstGeom prst="rect">
            <a:avLst/>
          </a:prstGeom>
          <a:noFill/>
          <a:ln/>
        </p:spPr>
        <p:txBody>
          <a:bodyPr wrap="square" rtlCol="0" anchor="ctr"/>
          <a:lstStyle/>
          <a:p>
            <a:pPr marL="0" indent="0">
              <a:buNone/>
            </a:pPr>
            <a:r>
              <a:rPr lang="en-US" sz="1000" b="1" kern="0" spc="100" dirty="0">
                <a:solidFill>
                  <a:srgbClr val="EA6A12"/>
                </a:solidFill>
                <a:latin typeface="Calibri" pitchFamily="34" charset="0"/>
                <a:ea typeface="Calibri" pitchFamily="34" charset="-122"/>
                <a:cs typeface="Calibri" pitchFamily="34" charset="-120"/>
              </a:rPr>
              <a:t>BRANCH</a:t>
            </a:r>
            <a:endParaRPr lang="en-US" sz="1000" dirty="0"/>
          </a:p>
        </p:txBody>
      </p:sp>
      <p:sp>
        <p:nvSpPr>
          <p:cNvPr id="14" name="Text 11"/>
          <p:cNvSpPr/>
          <p:nvPr/>
        </p:nvSpPr>
        <p:spPr>
          <a:xfrm>
            <a:off x="822960" y="4663440"/>
            <a:ext cx="41148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Rutuja Ghorband</a:t>
            </a:r>
            <a:endParaRPr lang="en-US" sz="1350" dirty="0"/>
          </a:p>
        </p:txBody>
      </p:sp>
      <p:sp>
        <p:nvSpPr>
          <p:cNvPr id="15" name="Text 12"/>
          <p:cNvSpPr/>
          <p:nvPr/>
        </p:nvSpPr>
        <p:spPr>
          <a:xfrm>
            <a:off x="5120640" y="4663440"/>
            <a:ext cx="27432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C-29</a:t>
            </a:r>
            <a:endParaRPr lang="en-US" sz="1350" dirty="0"/>
          </a:p>
        </p:txBody>
      </p:sp>
      <p:sp>
        <p:nvSpPr>
          <p:cNvPr id="16" name="Text 13"/>
          <p:cNvSpPr/>
          <p:nvPr/>
        </p:nvSpPr>
        <p:spPr>
          <a:xfrm>
            <a:off x="7955280" y="4663440"/>
            <a:ext cx="22860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CSD</a:t>
            </a:r>
            <a:endParaRPr lang="en-US" sz="1350" dirty="0"/>
          </a:p>
        </p:txBody>
      </p:sp>
      <p:sp>
        <p:nvSpPr>
          <p:cNvPr id="17" name="Text 14"/>
          <p:cNvSpPr/>
          <p:nvPr/>
        </p:nvSpPr>
        <p:spPr>
          <a:xfrm>
            <a:off x="822960" y="5047488"/>
            <a:ext cx="41148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Gayatri Dixit</a:t>
            </a:r>
            <a:endParaRPr lang="en-US" sz="1350" dirty="0"/>
          </a:p>
        </p:txBody>
      </p:sp>
      <p:sp>
        <p:nvSpPr>
          <p:cNvPr id="18" name="Text 15"/>
          <p:cNvSpPr/>
          <p:nvPr/>
        </p:nvSpPr>
        <p:spPr>
          <a:xfrm>
            <a:off x="5120640" y="5047488"/>
            <a:ext cx="27432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BT41049</a:t>
            </a:r>
            <a:endParaRPr lang="en-US" sz="1350" dirty="0"/>
          </a:p>
        </p:txBody>
      </p:sp>
      <p:sp>
        <p:nvSpPr>
          <p:cNvPr id="19" name="Text 16"/>
          <p:cNvSpPr/>
          <p:nvPr/>
        </p:nvSpPr>
        <p:spPr>
          <a:xfrm>
            <a:off x="7955280" y="5047488"/>
            <a:ext cx="22860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CSE</a:t>
            </a:r>
            <a:endParaRPr lang="en-US" sz="1350" dirty="0"/>
          </a:p>
        </p:txBody>
      </p:sp>
      <p:sp>
        <p:nvSpPr>
          <p:cNvPr id="20" name="Text 17"/>
          <p:cNvSpPr/>
          <p:nvPr/>
        </p:nvSpPr>
        <p:spPr>
          <a:xfrm>
            <a:off x="822960" y="5431536"/>
            <a:ext cx="41148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Abhinav Deshmukh</a:t>
            </a:r>
            <a:endParaRPr lang="en-US" sz="1350" dirty="0"/>
          </a:p>
        </p:txBody>
      </p:sp>
      <p:sp>
        <p:nvSpPr>
          <p:cNvPr id="21" name="Text 18"/>
          <p:cNvSpPr/>
          <p:nvPr/>
        </p:nvSpPr>
        <p:spPr>
          <a:xfrm>
            <a:off x="5120640" y="5431536"/>
            <a:ext cx="27432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BT41040</a:t>
            </a:r>
            <a:endParaRPr lang="en-US" sz="1350" dirty="0"/>
          </a:p>
        </p:txBody>
      </p:sp>
      <p:sp>
        <p:nvSpPr>
          <p:cNvPr id="22" name="Text 19"/>
          <p:cNvSpPr/>
          <p:nvPr/>
        </p:nvSpPr>
        <p:spPr>
          <a:xfrm>
            <a:off x="7955280" y="5431536"/>
            <a:ext cx="22860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CSE</a:t>
            </a:r>
            <a:endParaRPr lang="en-US" sz="1350" dirty="0"/>
          </a:p>
        </p:txBody>
      </p:sp>
      <p:sp>
        <p:nvSpPr>
          <p:cNvPr id="23" name="Shape 20"/>
          <p:cNvSpPr/>
          <p:nvPr/>
        </p:nvSpPr>
        <p:spPr>
          <a:xfrm>
            <a:off x="822960" y="5907024"/>
            <a:ext cx="10515600" cy="0"/>
          </a:xfrm>
          <a:prstGeom prst="line">
            <a:avLst/>
          </a:prstGeom>
          <a:noFill/>
          <a:ln w="12700">
            <a:solidFill>
              <a:srgbClr val="45494F"/>
            </a:solidFill>
            <a:prstDash val="solid"/>
          </a:ln>
        </p:spPr>
      </p:sp>
      <p:sp>
        <p:nvSpPr>
          <p:cNvPr id="24" name="Text 21"/>
          <p:cNvSpPr/>
          <p:nvPr/>
        </p:nvSpPr>
        <p:spPr>
          <a:xfrm>
            <a:off x="822960" y="6016752"/>
            <a:ext cx="1828800" cy="256032"/>
          </a:xfrm>
          <a:prstGeom prst="rect">
            <a:avLst/>
          </a:prstGeom>
          <a:noFill/>
          <a:ln/>
        </p:spPr>
        <p:txBody>
          <a:bodyPr wrap="square" rtlCol="0" anchor="ctr"/>
          <a:lstStyle/>
          <a:p>
            <a:pPr marL="0" indent="0">
              <a:buNone/>
            </a:pPr>
            <a:r>
              <a:rPr lang="en-US" sz="1000" b="1" kern="0" spc="100" dirty="0">
                <a:solidFill>
                  <a:srgbClr val="EA6A12"/>
                </a:solidFill>
                <a:latin typeface="Calibri" pitchFamily="34" charset="0"/>
                <a:ea typeface="Calibri" pitchFamily="34" charset="-122"/>
                <a:cs typeface="Calibri" pitchFamily="34" charset="-120"/>
              </a:rPr>
              <a:t>GUIDE</a:t>
            </a:r>
            <a:endParaRPr lang="en-US" sz="1000" dirty="0"/>
          </a:p>
        </p:txBody>
      </p:sp>
      <p:sp>
        <p:nvSpPr>
          <p:cNvPr id="25" name="Text 22"/>
          <p:cNvSpPr/>
          <p:nvPr/>
        </p:nvSpPr>
        <p:spPr>
          <a:xfrm>
            <a:off x="822960" y="6272784"/>
            <a:ext cx="4572000" cy="310896"/>
          </a:xfrm>
          <a:prstGeom prst="rect">
            <a:avLst/>
          </a:prstGeom>
          <a:noFill/>
          <a:ln/>
        </p:spPr>
        <p:txBody>
          <a:bodyPr wrap="square" rtlCol="0" anchor="ctr"/>
          <a:lstStyle/>
          <a:p>
            <a:pPr marL="0" indent="0">
              <a:buNone/>
            </a:pPr>
            <a:r>
              <a:rPr lang="en-US" sz="1350" dirty="0">
                <a:solidFill>
                  <a:srgbClr val="F5F3EE"/>
                </a:solidFill>
                <a:latin typeface="Calibri" pitchFamily="34" charset="0"/>
                <a:ea typeface="Calibri" pitchFamily="34" charset="-122"/>
                <a:cs typeface="Calibri" pitchFamily="34" charset="-120"/>
              </a:rPr>
              <a:t>Dr. Sumeet Jaiswal</a:t>
            </a:r>
            <a:endParaRPr lang="en-US" sz="1350" dirty="0"/>
          </a:p>
        </p:txBody>
      </p:sp>
      <p:pic>
        <p:nvPicPr>
          <p:cNvPr id="27" name="Picture 26">
            <a:extLst>
              <a:ext uri="{FF2B5EF4-FFF2-40B4-BE49-F238E27FC236}">
                <a16:creationId xmlns:a16="http://schemas.microsoft.com/office/drawing/2014/main" id="{9A3E5C54-B362-10D3-602C-A4413A31D90C}"/>
              </a:ext>
            </a:extLst>
          </p:cNvPr>
          <p:cNvPicPr>
            <a:picLocks noChangeAspect="1"/>
          </p:cNvPicPr>
          <p:nvPr/>
        </p:nvPicPr>
        <p:blipFill>
          <a:blip r:embed="rId3"/>
          <a:stretch>
            <a:fillRect/>
          </a:stretch>
        </p:blipFill>
        <p:spPr>
          <a:xfrm>
            <a:off x="7955281" y="-40479"/>
            <a:ext cx="4236720" cy="19363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What Is the Project?</a:t>
            </a:r>
            <a:endParaRPr lang="en-US" sz="2900" dirty="0"/>
          </a:p>
        </p:txBody>
      </p:sp>
      <p:sp>
        <p:nvSpPr>
          <p:cNvPr id="4" name="Text 2"/>
          <p:cNvSpPr/>
          <p:nvPr/>
        </p:nvSpPr>
        <p:spPr>
          <a:xfrm>
            <a:off x="548640" y="1298448"/>
            <a:ext cx="6949440" cy="365760"/>
          </a:xfrm>
          <a:prstGeom prst="rect">
            <a:avLst/>
          </a:prstGeom>
          <a:noFill/>
          <a:ln/>
        </p:spPr>
        <p:txBody>
          <a:bodyPr wrap="square" rtlCol="0" anchor="ctr"/>
          <a:lstStyle/>
          <a:p>
            <a:pPr marL="0" indent="0">
              <a:buNone/>
            </a:pPr>
            <a:r>
              <a:rPr lang="en-US" sz="1300" i="1" dirty="0">
                <a:solidFill>
                  <a:srgbClr val="6B7076"/>
                </a:solidFill>
                <a:latin typeface="Calibri" pitchFamily="34" charset="0"/>
                <a:ea typeface="Calibri" pitchFamily="34" charset="-122"/>
                <a:cs typeface="Calibri" pitchFamily="34" charset="-120"/>
              </a:rPr>
              <a:t>Construction activities generate pollution that is difficult to track manually.</a:t>
            </a:r>
            <a:endParaRPr lang="en-US" sz="1300" dirty="0"/>
          </a:p>
        </p:txBody>
      </p:sp>
      <p:sp>
        <p:nvSpPr>
          <p:cNvPr id="5" name="Shape 3"/>
          <p:cNvSpPr/>
          <p:nvPr/>
        </p:nvSpPr>
        <p:spPr>
          <a:xfrm>
            <a:off x="548640" y="1828800"/>
            <a:ext cx="5120640" cy="4160520"/>
          </a:xfrm>
          <a:prstGeom prst="roundRect">
            <a:avLst>
              <a:gd name="adj" fmla="val 2198"/>
            </a:avLst>
          </a:prstGeom>
          <a:solidFill>
            <a:srgbClr val="FFFFFF"/>
          </a:solidFill>
          <a:ln w="12700">
            <a:solidFill>
              <a:srgbClr val="E4E1DA"/>
            </a:solidFill>
            <a:prstDash val="solid"/>
          </a:ln>
          <a:effectLst>
            <a:outerShdw blurRad="76200" dist="25400" dir="5400000" algn="bl" rotWithShape="0">
              <a:srgbClr val="000000">
                <a:alpha val="12000"/>
              </a:srgbClr>
            </a:outerShdw>
          </a:effectLst>
        </p:spPr>
      </p:sp>
      <p:sp>
        <p:nvSpPr>
          <p:cNvPr id="6" name="Text 4"/>
          <p:cNvSpPr/>
          <p:nvPr/>
        </p:nvSpPr>
        <p:spPr>
          <a:xfrm>
            <a:off x="868680" y="2057400"/>
            <a:ext cx="4572000" cy="320040"/>
          </a:xfrm>
          <a:prstGeom prst="rect">
            <a:avLst/>
          </a:prstGeom>
          <a:noFill/>
          <a:ln/>
        </p:spPr>
        <p:txBody>
          <a:bodyPr wrap="square" rtlCol="0" anchor="ctr"/>
          <a:lstStyle/>
          <a:p>
            <a:pPr marL="0" indent="0">
              <a:buNone/>
            </a:pPr>
            <a:r>
              <a:rPr lang="en-US" sz="1500" b="1" dirty="0">
                <a:solidFill>
                  <a:srgbClr val="2B2E33"/>
                </a:solidFill>
                <a:latin typeface="Cambria" pitchFamily="34" charset="0"/>
                <a:ea typeface="Cambria" pitchFamily="34" charset="-122"/>
                <a:cs typeface="Cambria" pitchFamily="34" charset="-120"/>
              </a:rPr>
              <a:t>Pollution-Generating Activities</a:t>
            </a:r>
            <a:endParaRPr lang="en-US" sz="1500" dirty="0"/>
          </a:p>
        </p:txBody>
      </p:sp>
      <p:sp>
        <p:nvSpPr>
          <p:cNvPr id="7" name="Shape 5"/>
          <p:cNvSpPr/>
          <p:nvPr/>
        </p:nvSpPr>
        <p:spPr>
          <a:xfrm>
            <a:off x="896112" y="2578608"/>
            <a:ext cx="82296" cy="82296"/>
          </a:xfrm>
          <a:prstGeom prst="ellipse">
            <a:avLst/>
          </a:prstGeom>
          <a:solidFill>
            <a:srgbClr val="EA6A12"/>
          </a:solidFill>
          <a:ln/>
        </p:spPr>
      </p:sp>
      <p:sp>
        <p:nvSpPr>
          <p:cNvPr id="8" name="Text 6"/>
          <p:cNvSpPr/>
          <p:nvPr/>
        </p:nvSpPr>
        <p:spPr>
          <a:xfrm>
            <a:off x="1115568" y="2514600"/>
            <a:ext cx="4343400" cy="310896"/>
          </a:xfrm>
          <a:prstGeom prst="rect">
            <a:avLst/>
          </a:prstGeom>
          <a:noFill/>
          <a:ln/>
        </p:spPr>
        <p:txBody>
          <a:bodyPr wrap="square" rtlCol="0" anchor="ctr"/>
          <a:lstStyle/>
          <a:p>
            <a:pPr marL="0" indent="0">
              <a:buNone/>
            </a:pPr>
            <a:r>
              <a:rPr lang="en-US" sz="1350" dirty="0">
                <a:solidFill>
                  <a:srgbClr val="1E2024"/>
                </a:solidFill>
                <a:latin typeface="Calibri" pitchFamily="34" charset="0"/>
                <a:ea typeface="Calibri" pitchFamily="34" charset="-122"/>
                <a:cs typeface="Calibri" pitchFamily="34" charset="-120"/>
              </a:rPr>
              <a:t>Excavation</a:t>
            </a:r>
            <a:endParaRPr lang="en-US" sz="1350" dirty="0"/>
          </a:p>
        </p:txBody>
      </p:sp>
      <p:sp>
        <p:nvSpPr>
          <p:cNvPr id="9" name="Shape 7"/>
          <p:cNvSpPr/>
          <p:nvPr/>
        </p:nvSpPr>
        <p:spPr>
          <a:xfrm>
            <a:off x="896112" y="3035808"/>
            <a:ext cx="82296" cy="82296"/>
          </a:xfrm>
          <a:prstGeom prst="ellipse">
            <a:avLst/>
          </a:prstGeom>
          <a:solidFill>
            <a:srgbClr val="EA6A12"/>
          </a:solidFill>
          <a:ln/>
        </p:spPr>
      </p:sp>
      <p:sp>
        <p:nvSpPr>
          <p:cNvPr id="10" name="Text 8"/>
          <p:cNvSpPr/>
          <p:nvPr/>
        </p:nvSpPr>
        <p:spPr>
          <a:xfrm>
            <a:off x="1115568" y="2971800"/>
            <a:ext cx="4343400" cy="310896"/>
          </a:xfrm>
          <a:prstGeom prst="rect">
            <a:avLst/>
          </a:prstGeom>
          <a:noFill/>
          <a:ln/>
        </p:spPr>
        <p:txBody>
          <a:bodyPr wrap="square" rtlCol="0" anchor="ctr"/>
          <a:lstStyle/>
          <a:p>
            <a:pPr marL="0" indent="0">
              <a:buNone/>
            </a:pPr>
            <a:r>
              <a:rPr lang="en-US" sz="1350" dirty="0">
                <a:solidFill>
                  <a:srgbClr val="1E2024"/>
                </a:solidFill>
                <a:latin typeface="Calibri" pitchFamily="34" charset="0"/>
                <a:ea typeface="Calibri" pitchFamily="34" charset="-122"/>
                <a:cs typeface="Calibri" pitchFamily="34" charset="-120"/>
              </a:rPr>
              <a:t>Drilling</a:t>
            </a:r>
            <a:endParaRPr lang="en-US" sz="1350" dirty="0"/>
          </a:p>
        </p:txBody>
      </p:sp>
      <p:sp>
        <p:nvSpPr>
          <p:cNvPr id="11" name="Shape 9"/>
          <p:cNvSpPr/>
          <p:nvPr/>
        </p:nvSpPr>
        <p:spPr>
          <a:xfrm>
            <a:off x="896112" y="3493008"/>
            <a:ext cx="82296" cy="82296"/>
          </a:xfrm>
          <a:prstGeom prst="ellipse">
            <a:avLst/>
          </a:prstGeom>
          <a:solidFill>
            <a:srgbClr val="EA6A12"/>
          </a:solidFill>
          <a:ln/>
        </p:spPr>
      </p:sp>
      <p:sp>
        <p:nvSpPr>
          <p:cNvPr id="12" name="Text 10"/>
          <p:cNvSpPr/>
          <p:nvPr/>
        </p:nvSpPr>
        <p:spPr>
          <a:xfrm>
            <a:off x="1115568" y="3429000"/>
            <a:ext cx="4343400" cy="310896"/>
          </a:xfrm>
          <a:prstGeom prst="rect">
            <a:avLst/>
          </a:prstGeom>
          <a:noFill/>
          <a:ln/>
        </p:spPr>
        <p:txBody>
          <a:bodyPr wrap="square" rtlCol="0" anchor="ctr"/>
          <a:lstStyle/>
          <a:p>
            <a:pPr marL="0" indent="0">
              <a:buNone/>
            </a:pPr>
            <a:r>
              <a:rPr lang="en-US" sz="1350" dirty="0">
                <a:solidFill>
                  <a:srgbClr val="1E2024"/>
                </a:solidFill>
                <a:latin typeface="Calibri" pitchFamily="34" charset="0"/>
                <a:ea typeface="Calibri" pitchFamily="34" charset="-122"/>
                <a:cs typeface="Calibri" pitchFamily="34" charset="-120"/>
              </a:rPr>
              <a:t>Concrete mixing</a:t>
            </a:r>
            <a:endParaRPr lang="en-US" sz="1350" dirty="0"/>
          </a:p>
        </p:txBody>
      </p:sp>
      <p:sp>
        <p:nvSpPr>
          <p:cNvPr id="13" name="Shape 11"/>
          <p:cNvSpPr/>
          <p:nvPr/>
        </p:nvSpPr>
        <p:spPr>
          <a:xfrm>
            <a:off x="896112" y="3950208"/>
            <a:ext cx="82296" cy="82296"/>
          </a:xfrm>
          <a:prstGeom prst="ellipse">
            <a:avLst/>
          </a:prstGeom>
          <a:solidFill>
            <a:srgbClr val="EA6A12"/>
          </a:solidFill>
          <a:ln/>
        </p:spPr>
      </p:sp>
      <p:sp>
        <p:nvSpPr>
          <p:cNvPr id="14" name="Text 12"/>
          <p:cNvSpPr/>
          <p:nvPr/>
        </p:nvSpPr>
        <p:spPr>
          <a:xfrm>
            <a:off x="1115568" y="3886200"/>
            <a:ext cx="4343400" cy="310896"/>
          </a:xfrm>
          <a:prstGeom prst="rect">
            <a:avLst/>
          </a:prstGeom>
          <a:noFill/>
          <a:ln/>
        </p:spPr>
        <p:txBody>
          <a:bodyPr wrap="square" rtlCol="0" anchor="ctr"/>
          <a:lstStyle/>
          <a:p>
            <a:pPr marL="0" indent="0">
              <a:buNone/>
            </a:pPr>
            <a:r>
              <a:rPr lang="en-US" sz="1350" dirty="0">
                <a:solidFill>
                  <a:srgbClr val="1E2024"/>
                </a:solidFill>
                <a:latin typeface="Calibri" pitchFamily="34" charset="0"/>
                <a:ea typeface="Calibri" pitchFamily="34" charset="-122"/>
                <a:cs typeface="Calibri" pitchFamily="34" charset="-120"/>
              </a:rPr>
              <a:t>Demolition</a:t>
            </a:r>
            <a:endParaRPr lang="en-US" sz="1350" dirty="0"/>
          </a:p>
        </p:txBody>
      </p:sp>
      <p:sp>
        <p:nvSpPr>
          <p:cNvPr id="15" name="Shape 13"/>
          <p:cNvSpPr/>
          <p:nvPr/>
        </p:nvSpPr>
        <p:spPr>
          <a:xfrm>
            <a:off x="896112" y="4407408"/>
            <a:ext cx="82296" cy="82296"/>
          </a:xfrm>
          <a:prstGeom prst="ellipse">
            <a:avLst/>
          </a:prstGeom>
          <a:solidFill>
            <a:srgbClr val="EA6A12"/>
          </a:solidFill>
          <a:ln/>
        </p:spPr>
      </p:sp>
      <p:sp>
        <p:nvSpPr>
          <p:cNvPr id="16" name="Text 14"/>
          <p:cNvSpPr/>
          <p:nvPr/>
        </p:nvSpPr>
        <p:spPr>
          <a:xfrm>
            <a:off x="1115568" y="4343400"/>
            <a:ext cx="4343400" cy="310896"/>
          </a:xfrm>
          <a:prstGeom prst="rect">
            <a:avLst/>
          </a:prstGeom>
          <a:noFill/>
          <a:ln/>
        </p:spPr>
        <p:txBody>
          <a:bodyPr wrap="square" rtlCol="0" anchor="ctr"/>
          <a:lstStyle/>
          <a:p>
            <a:pPr marL="0" indent="0">
              <a:buNone/>
            </a:pPr>
            <a:r>
              <a:rPr lang="en-US" sz="1350" dirty="0">
                <a:solidFill>
                  <a:srgbClr val="1E2024"/>
                </a:solidFill>
                <a:latin typeface="Calibri" pitchFamily="34" charset="0"/>
                <a:ea typeface="Calibri" pitchFamily="34" charset="-122"/>
                <a:cs typeface="Calibri" pitchFamily="34" charset="-120"/>
              </a:rPr>
              <a:t>Cutting</a:t>
            </a:r>
            <a:endParaRPr lang="en-US" sz="1350" dirty="0"/>
          </a:p>
        </p:txBody>
      </p:sp>
      <p:sp>
        <p:nvSpPr>
          <p:cNvPr id="17" name="Shape 15"/>
          <p:cNvSpPr/>
          <p:nvPr/>
        </p:nvSpPr>
        <p:spPr>
          <a:xfrm>
            <a:off x="896112" y="4864608"/>
            <a:ext cx="82296" cy="82296"/>
          </a:xfrm>
          <a:prstGeom prst="ellipse">
            <a:avLst/>
          </a:prstGeom>
          <a:solidFill>
            <a:srgbClr val="EA6A12"/>
          </a:solidFill>
          <a:ln/>
        </p:spPr>
      </p:sp>
      <p:sp>
        <p:nvSpPr>
          <p:cNvPr id="18" name="Text 16"/>
          <p:cNvSpPr/>
          <p:nvPr/>
        </p:nvSpPr>
        <p:spPr>
          <a:xfrm>
            <a:off x="1115568" y="4800600"/>
            <a:ext cx="4343400" cy="310896"/>
          </a:xfrm>
          <a:prstGeom prst="rect">
            <a:avLst/>
          </a:prstGeom>
          <a:noFill/>
          <a:ln/>
        </p:spPr>
        <p:txBody>
          <a:bodyPr wrap="square" rtlCol="0" anchor="ctr"/>
          <a:lstStyle/>
          <a:p>
            <a:pPr marL="0" indent="0">
              <a:buNone/>
            </a:pPr>
            <a:r>
              <a:rPr lang="en-US" sz="1350" dirty="0">
                <a:solidFill>
                  <a:srgbClr val="1E2024"/>
                </a:solidFill>
                <a:latin typeface="Calibri" pitchFamily="34" charset="0"/>
                <a:ea typeface="Calibri" pitchFamily="34" charset="-122"/>
                <a:cs typeface="Calibri" pitchFamily="34" charset="-120"/>
              </a:rPr>
              <a:t>Transportation of materials</a:t>
            </a:r>
            <a:endParaRPr lang="en-US" sz="1350" dirty="0"/>
          </a:p>
        </p:txBody>
      </p:sp>
      <p:sp>
        <p:nvSpPr>
          <p:cNvPr id="19" name="Text 17"/>
          <p:cNvSpPr/>
          <p:nvPr/>
        </p:nvSpPr>
        <p:spPr>
          <a:xfrm>
            <a:off x="868680" y="5303520"/>
            <a:ext cx="4572000" cy="502920"/>
          </a:xfrm>
          <a:prstGeom prst="rect">
            <a:avLst/>
          </a:prstGeom>
          <a:noFill/>
          <a:ln/>
        </p:spPr>
        <p:txBody>
          <a:bodyPr wrap="square" rtlCol="0" anchor="ctr"/>
          <a:lstStyle/>
          <a:p>
            <a:pPr marL="0" indent="0">
              <a:buNone/>
            </a:pPr>
            <a:r>
              <a:rPr lang="en-US" sz="1150" i="1" dirty="0">
                <a:solidFill>
                  <a:srgbClr val="6B7076"/>
                </a:solidFill>
                <a:latin typeface="Calibri" pitchFamily="34" charset="0"/>
                <a:ea typeface="Calibri" pitchFamily="34" charset="-122"/>
                <a:cs typeface="Calibri" pitchFamily="34" charset="-120"/>
              </a:rPr>
              <a:t>These contribute to noise and particulate pollution on site.</a:t>
            </a:r>
            <a:endParaRPr lang="en-US" sz="1150" dirty="0"/>
          </a:p>
        </p:txBody>
      </p:sp>
      <p:sp>
        <p:nvSpPr>
          <p:cNvPr id="20" name="Shape 18"/>
          <p:cNvSpPr/>
          <p:nvPr/>
        </p:nvSpPr>
        <p:spPr>
          <a:xfrm>
            <a:off x="5897880" y="1828800"/>
            <a:ext cx="5742432" cy="2286000"/>
          </a:xfrm>
          <a:prstGeom prst="roundRect">
            <a:avLst>
              <a:gd name="adj" fmla="val 4000"/>
            </a:avLst>
          </a:prstGeom>
          <a:solidFill>
            <a:srgbClr val="2B2E33"/>
          </a:solidFill>
          <a:ln/>
        </p:spPr>
      </p:sp>
      <p:sp>
        <p:nvSpPr>
          <p:cNvPr id="21" name="Text 19"/>
          <p:cNvSpPr/>
          <p:nvPr/>
        </p:nvSpPr>
        <p:spPr>
          <a:xfrm>
            <a:off x="6172200" y="2011680"/>
            <a:ext cx="5120640" cy="320040"/>
          </a:xfrm>
          <a:prstGeom prst="rect">
            <a:avLst/>
          </a:prstGeom>
          <a:noFill/>
          <a:ln/>
        </p:spPr>
        <p:txBody>
          <a:bodyPr wrap="square" rtlCol="0" anchor="ctr"/>
          <a:lstStyle/>
          <a:p>
            <a:pPr marL="0" indent="0">
              <a:buNone/>
            </a:pPr>
            <a:r>
              <a:rPr lang="en-US" sz="1500" b="1" dirty="0">
                <a:solidFill>
                  <a:srgbClr val="F5F3EE"/>
                </a:solidFill>
                <a:latin typeface="Cambria" pitchFamily="34" charset="0"/>
                <a:ea typeface="Cambria" pitchFamily="34" charset="-122"/>
                <a:cs typeface="Cambria" pitchFamily="34" charset="-120"/>
              </a:rPr>
              <a:t>The System Will:</a:t>
            </a:r>
            <a:endParaRPr lang="en-US" sz="1500" dirty="0"/>
          </a:p>
        </p:txBody>
      </p:sp>
      <p:sp>
        <p:nvSpPr>
          <p:cNvPr id="22" name="Shape 20"/>
          <p:cNvSpPr/>
          <p:nvPr/>
        </p:nvSpPr>
        <p:spPr>
          <a:xfrm>
            <a:off x="6172200" y="2606040"/>
            <a:ext cx="960120" cy="502920"/>
          </a:xfrm>
          <a:prstGeom prst="roundRect">
            <a:avLst>
              <a:gd name="adj" fmla="val 14545"/>
            </a:avLst>
          </a:prstGeom>
          <a:solidFill>
            <a:srgbClr val="3C4046"/>
          </a:solidFill>
          <a:ln/>
        </p:spPr>
      </p:sp>
      <p:sp>
        <p:nvSpPr>
          <p:cNvPr id="23" name="Text 21"/>
          <p:cNvSpPr/>
          <p:nvPr/>
        </p:nvSpPr>
        <p:spPr>
          <a:xfrm>
            <a:off x="6131052" y="2606040"/>
            <a:ext cx="960120" cy="50292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Collect</a:t>
            </a:r>
            <a:endParaRPr lang="en-US" sz="1150" dirty="0"/>
          </a:p>
        </p:txBody>
      </p:sp>
      <p:sp>
        <p:nvSpPr>
          <p:cNvPr id="24" name="Text 22"/>
          <p:cNvSpPr/>
          <p:nvPr/>
        </p:nvSpPr>
        <p:spPr>
          <a:xfrm>
            <a:off x="7132320" y="2606040"/>
            <a:ext cx="274320" cy="502920"/>
          </a:xfrm>
          <a:prstGeom prst="rect">
            <a:avLst/>
          </a:prstGeom>
          <a:noFill/>
          <a:ln/>
        </p:spPr>
        <p:txBody>
          <a:bodyPr wrap="square" rtlCol="0" anchor="ctr"/>
          <a:lstStyle/>
          <a:p>
            <a:pPr marL="0" indent="0" algn="ctr">
              <a:buNone/>
            </a:pPr>
            <a:r>
              <a:rPr lang="en-US" sz="1400" b="1" dirty="0">
                <a:solidFill>
                  <a:srgbClr val="EA6A12"/>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7406640" y="2606040"/>
            <a:ext cx="960120" cy="502920"/>
          </a:xfrm>
          <a:prstGeom prst="roundRect">
            <a:avLst>
              <a:gd name="adj" fmla="val 14545"/>
            </a:avLst>
          </a:prstGeom>
          <a:solidFill>
            <a:srgbClr val="3C4046"/>
          </a:solidFill>
          <a:ln/>
        </p:spPr>
      </p:sp>
      <p:sp>
        <p:nvSpPr>
          <p:cNvPr id="26" name="Text 24"/>
          <p:cNvSpPr/>
          <p:nvPr/>
        </p:nvSpPr>
        <p:spPr>
          <a:xfrm>
            <a:off x="7406640" y="2606040"/>
            <a:ext cx="960120" cy="50292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Analyze</a:t>
            </a:r>
            <a:endParaRPr lang="en-US" sz="1150" dirty="0"/>
          </a:p>
        </p:txBody>
      </p:sp>
      <p:sp>
        <p:nvSpPr>
          <p:cNvPr id="27" name="Text 25"/>
          <p:cNvSpPr/>
          <p:nvPr/>
        </p:nvSpPr>
        <p:spPr>
          <a:xfrm>
            <a:off x="8366760" y="2606040"/>
            <a:ext cx="274320" cy="502920"/>
          </a:xfrm>
          <a:prstGeom prst="rect">
            <a:avLst/>
          </a:prstGeom>
          <a:noFill/>
          <a:ln/>
        </p:spPr>
        <p:txBody>
          <a:bodyPr wrap="square" rtlCol="0" anchor="ctr"/>
          <a:lstStyle/>
          <a:p>
            <a:pPr marL="0" indent="0" algn="ctr">
              <a:buNone/>
            </a:pPr>
            <a:r>
              <a:rPr lang="en-US" sz="1400" b="1" dirty="0">
                <a:solidFill>
                  <a:srgbClr val="EA6A12"/>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8641080" y="2606040"/>
            <a:ext cx="960120" cy="502920"/>
          </a:xfrm>
          <a:prstGeom prst="roundRect">
            <a:avLst>
              <a:gd name="adj" fmla="val 14545"/>
            </a:avLst>
          </a:prstGeom>
          <a:solidFill>
            <a:srgbClr val="3C4046"/>
          </a:solidFill>
          <a:ln/>
        </p:spPr>
      </p:sp>
      <p:sp>
        <p:nvSpPr>
          <p:cNvPr id="29" name="Text 27"/>
          <p:cNvSpPr/>
          <p:nvPr/>
        </p:nvSpPr>
        <p:spPr>
          <a:xfrm>
            <a:off x="8641080" y="2606040"/>
            <a:ext cx="960120" cy="50292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Compare</a:t>
            </a:r>
            <a:endParaRPr lang="en-US" sz="1150" dirty="0"/>
          </a:p>
        </p:txBody>
      </p:sp>
      <p:sp>
        <p:nvSpPr>
          <p:cNvPr id="30" name="Text 28"/>
          <p:cNvSpPr/>
          <p:nvPr/>
        </p:nvSpPr>
        <p:spPr>
          <a:xfrm>
            <a:off x="9601200" y="2606040"/>
            <a:ext cx="274320" cy="502920"/>
          </a:xfrm>
          <a:prstGeom prst="rect">
            <a:avLst/>
          </a:prstGeom>
          <a:noFill/>
          <a:ln/>
        </p:spPr>
        <p:txBody>
          <a:bodyPr wrap="square" rtlCol="0" anchor="ctr"/>
          <a:lstStyle/>
          <a:p>
            <a:pPr marL="0" indent="0" algn="ctr">
              <a:buNone/>
            </a:pPr>
            <a:r>
              <a:rPr lang="en-US" sz="1400" b="1" dirty="0">
                <a:solidFill>
                  <a:srgbClr val="EA6A12"/>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9875520" y="2606040"/>
            <a:ext cx="960120" cy="502920"/>
          </a:xfrm>
          <a:prstGeom prst="roundRect">
            <a:avLst>
              <a:gd name="adj" fmla="val 14545"/>
            </a:avLst>
          </a:prstGeom>
          <a:solidFill>
            <a:srgbClr val="3C4046"/>
          </a:solidFill>
          <a:ln/>
        </p:spPr>
      </p:sp>
      <p:sp>
        <p:nvSpPr>
          <p:cNvPr id="32" name="Text 30"/>
          <p:cNvSpPr/>
          <p:nvPr/>
        </p:nvSpPr>
        <p:spPr>
          <a:xfrm>
            <a:off x="9875520" y="2606040"/>
            <a:ext cx="960120" cy="50292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Alert</a:t>
            </a:r>
            <a:endParaRPr lang="en-US" sz="1150" dirty="0"/>
          </a:p>
        </p:txBody>
      </p:sp>
      <p:sp>
        <p:nvSpPr>
          <p:cNvPr id="33" name="Text 31"/>
          <p:cNvSpPr/>
          <p:nvPr/>
        </p:nvSpPr>
        <p:spPr>
          <a:xfrm>
            <a:off x="10835640" y="2606040"/>
            <a:ext cx="274320" cy="502920"/>
          </a:xfrm>
          <a:prstGeom prst="rect">
            <a:avLst/>
          </a:prstGeom>
          <a:noFill/>
          <a:ln/>
        </p:spPr>
        <p:txBody>
          <a:bodyPr wrap="square" rtlCol="0" anchor="ctr"/>
          <a:lstStyle/>
          <a:p>
            <a:pPr marL="0" indent="0" algn="ctr">
              <a:buNone/>
            </a:pPr>
            <a:r>
              <a:rPr lang="en-US" sz="1400" b="1" dirty="0">
                <a:solidFill>
                  <a:srgbClr val="EA6A12"/>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11109960" y="2606040"/>
            <a:ext cx="960120" cy="502920"/>
          </a:xfrm>
          <a:prstGeom prst="roundRect">
            <a:avLst>
              <a:gd name="adj" fmla="val 14545"/>
            </a:avLst>
          </a:prstGeom>
          <a:solidFill>
            <a:srgbClr val="EA6A12"/>
          </a:solidFill>
          <a:ln/>
        </p:spPr>
      </p:sp>
      <p:sp>
        <p:nvSpPr>
          <p:cNvPr id="35" name="Text 33"/>
          <p:cNvSpPr/>
          <p:nvPr/>
        </p:nvSpPr>
        <p:spPr>
          <a:xfrm>
            <a:off x="11109960" y="2606040"/>
            <a:ext cx="960120" cy="50292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Report</a:t>
            </a:r>
            <a:endParaRPr lang="en-US" sz="1150" dirty="0"/>
          </a:p>
        </p:txBody>
      </p:sp>
      <p:sp>
        <p:nvSpPr>
          <p:cNvPr id="36" name="Text 34"/>
          <p:cNvSpPr/>
          <p:nvPr/>
        </p:nvSpPr>
        <p:spPr>
          <a:xfrm>
            <a:off x="6172200" y="3337560"/>
            <a:ext cx="5166360" cy="731520"/>
          </a:xfrm>
          <a:prstGeom prst="rect">
            <a:avLst/>
          </a:prstGeom>
          <a:noFill/>
          <a:ln/>
        </p:spPr>
        <p:txBody>
          <a:bodyPr wrap="square" rtlCol="0" anchor="ctr"/>
          <a:lstStyle/>
          <a:p>
            <a:pPr marL="0" indent="0">
              <a:buNone/>
            </a:pPr>
            <a:r>
              <a:rPr lang="en-US" sz="1150" dirty="0">
                <a:solidFill>
                  <a:srgbClr val="D7D9DB"/>
                </a:solidFill>
                <a:latin typeface="Calibri" pitchFamily="34" charset="0"/>
                <a:ea typeface="Calibri" pitchFamily="34" charset="-122"/>
                <a:cs typeface="Calibri" pitchFamily="34" charset="-120"/>
              </a:rPr>
              <a:t>A centralized software platform where monitoring data is recorded and analyzed — turning scattered readings into clear, actionable compliance status.</a:t>
            </a:r>
            <a:endParaRPr lang="en-US" sz="1150" dirty="0"/>
          </a:p>
        </p:txBody>
      </p:sp>
      <p:sp>
        <p:nvSpPr>
          <p:cNvPr id="37" name="Shape 35"/>
          <p:cNvSpPr/>
          <p:nvPr/>
        </p:nvSpPr>
        <p:spPr>
          <a:xfrm>
            <a:off x="5897880" y="4279392"/>
            <a:ext cx="5742432" cy="1709928"/>
          </a:xfrm>
          <a:prstGeom prst="roundRect">
            <a:avLst>
              <a:gd name="adj" fmla="val 5348"/>
            </a:avLst>
          </a:prstGeom>
          <a:solidFill>
            <a:srgbClr val="FBEFE4"/>
          </a:solidFill>
          <a:ln w="12700">
            <a:solidFill>
              <a:srgbClr val="F0D6B8"/>
            </a:solidFill>
            <a:prstDash val="solid"/>
          </a:ln>
        </p:spPr>
      </p:sp>
      <p:sp>
        <p:nvSpPr>
          <p:cNvPr id="38" name="Shape 36"/>
          <p:cNvSpPr/>
          <p:nvPr/>
        </p:nvSpPr>
        <p:spPr>
          <a:xfrm>
            <a:off x="6108192" y="4480560"/>
            <a:ext cx="502920" cy="502920"/>
          </a:xfrm>
          <a:prstGeom prst="ellipse">
            <a:avLst/>
          </a:prstGeom>
          <a:solidFill>
            <a:srgbClr val="EA6A12"/>
          </a:solidFill>
          <a:ln/>
        </p:spPr>
      </p:sp>
      <p:pic>
        <p:nvPicPr>
          <p:cNvPr id="39" name="Image 0" descr="icon_target.png"/>
          <p:cNvPicPr>
            <a:picLocks noChangeAspect="1"/>
          </p:cNvPicPr>
          <p:nvPr/>
        </p:nvPicPr>
        <p:blipFill>
          <a:blip r:embed="rId3"/>
          <a:stretch>
            <a:fillRect/>
          </a:stretch>
        </p:blipFill>
        <p:spPr>
          <a:xfrm>
            <a:off x="6238951" y="4611319"/>
            <a:ext cx="241402" cy="241402"/>
          </a:xfrm>
          <a:prstGeom prst="rect">
            <a:avLst/>
          </a:prstGeom>
        </p:spPr>
      </p:pic>
      <p:sp>
        <p:nvSpPr>
          <p:cNvPr id="40" name="Text 37"/>
          <p:cNvSpPr/>
          <p:nvPr/>
        </p:nvSpPr>
        <p:spPr>
          <a:xfrm>
            <a:off x="6748272" y="4480560"/>
            <a:ext cx="4754880" cy="274320"/>
          </a:xfrm>
          <a:prstGeom prst="rect">
            <a:avLst/>
          </a:prstGeom>
          <a:noFill/>
          <a:ln/>
        </p:spPr>
        <p:txBody>
          <a:bodyPr wrap="square" rtlCol="0" anchor="ctr"/>
          <a:lstStyle/>
          <a:p>
            <a:pPr marL="0" indent="0">
              <a:buNone/>
            </a:pPr>
            <a:r>
              <a:rPr lang="en-US" sz="1350" b="1" dirty="0">
                <a:solidFill>
                  <a:srgbClr val="2B2E33"/>
                </a:solidFill>
                <a:latin typeface="Cambria" pitchFamily="34" charset="0"/>
                <a:ea typeface="Cambria" pitchFamily="34" charset="-122"/>
                <a:cs typeface="Cambria" pitchFamily="34" charset="-120"/>
              </a:rPr>
              <a:t>Regulatory Basis</a:t>
            </a:r>
            <a:endParaRPr lang="en-US" sz="1350" dirty="0"/>
          </a:p>
        </p:txBody>
      </p:sp>
      <p:sp>
        <p:nvSpPr>
          <p:cNvPr id="41" name="Text 38"/>
          <p:cNvSpPr/>
          <p:nvPr/>
        </p:nvSpPr>
        <p:spPr>
          <a:xfrm>
            <a:off x="6108192" y="4828032"/>
            <a:ext cx="5394960" cy="1078992"/>
          </a:xfrm>
          <a:prstGeom prst="rect">
            <a:avLst/>
          </a:prstGeom>
          <a:noFill/>
          <a:ln/>
        </p:spPr>
        <p:txBody>
          <a:bodyPr wrap="square" rtlCol="0" anchor="ctr"/>
          <a:lstStyle/>
          <a:p>
            <a:pPr marL="0" indent="0">
              <a:lnSpc>
                <a:spcPct val="112000"/>
              </a:lnSpc>
              <a:buNone/>
            </a:pPr>
            <a:r>
              <a:rPr lang="en-US" sz="1100" dirty="0">
                <a:solidFill>
                  <a:srgbClr val="1E2024"/>
                </a:solidFill>
                <a:latin typeface="Calibri" pitchFamily="34" charset="0"/>
                <a:ea typeface="Calibri" pitchFamily="34" charset="-122"/>
                <a:cs typeface="Calibri" pitchFamily="34" charset="-120"/>
              </a:rPr>
              <a:t>The project is inspired by the need for systematic environmental monitoring. CPCB's noise framework recognizes construction activity among sources of noise pollution and provides ambient noise standards based on area categories.</a:t>
            </a:r>
            <a:endParaRPr lang="en-US" sz="1100" dirty="0"/>
          </a:p>
        </p:txBody>
      </p:sp>
      <p:sp>
        <p:nvSpPr>
          <p:cNvPr id="42" name="Text 39"/>
          <p:cNvSpPr/>
          <p:nvPr/>
        </p:nvSpPr>
        <p:spPr>
          <a:xfrm>
            <a:off x="457200" y="6492240"/>
            <a:ext cx="8686800" cy="274320"/>
          </a:xfrm>
          <a:prstGeom prst="rect">
            <a:avLst/>
          </a:prstGeom>
          <a:noFill/>
          <a:ln/>
        </p:spPr>
        <p:txBody>
          <a:bodyPr wrap="square" rtlCol="0" anchor="ctr"/>
          <a:lstStyle/>
          <a:p>
            <a:pPr marL="0" indent="0" algn="l">
              <a:buNone/>
            </a:pPr>
            <a:endParaRPr lang="en-US" sz="1100" dirty="0"/>
          </a:p>
        </p:txBody>
      </p:sp>
      <p:sp>
        <p:nvSpPr>
          <p:cNvPr id="43" name="Text 40"/>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02  —  PROBLEM STATEMENT</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Existing Problems</a:t>
            </a:r>
            <a:endParaRPr lang="en-US" sz="2900" dirty="0"/>
          </a:p>
        </p:txBody>
      </p:sp>
      <p:sp>
        <p:nvSpPr>
          <p:cNvPr id="4" name="Shape 2"/>
          <p:cNvSpPr/>
          <p:nvPr/>
        </p:nvSpPr>
        <p:spPr>
          <a:xfrm>
            <a:off x="548640" y="1600200"/>
            <a:ext cx="6309360" cy="512064"/>
          </a:xfrm>
          <a:prstGeom prst="roundRect">
            <a:avLst>
              <a:gd name="adj" fmla="val 12500"/>
            </a:avLst>
          </a:prstGeom>
          <a:solidFill>
            <a:srgbClr val="FFFFFF"/>
          </a:solidFill>
          <a:ln w="12700">
            <a:solidFill>
              <a:srgbClr val="E4E1DA"/>
            </a:solidFill>
            <a:prstDash val="solid"/>
          </a:ln>
        </p:spPr>
      </p:sp>
      <p:pic>
        <p:nvPicPr>
          <p:cNvPr id="5" name="Image 0" descr="icon_x.png"/>
          <p:cNvPicPr>
            <a:picLocks noChangeAspect="1"/>
          </p:cNvPicPr>
          <p:nvPr/>
        </p:nvPicPr>
        <p:blipFill>
          <a:blip r:embed="rId3"/>
          <a:stretch>
            <a:fillRect/>
          </a:stretch>
        </p:blipFill>
        <p:spPr>
          <a:xfrm>
            <a:off x="685800" y="1719072"/>
            <a:ext cx="274320" cy="274320"/>
          </a:xfrm>
          <a:prstGeom prst="rect">
            <a:avLst/>
          </a:prstGeom>
        </p:spPr>
      </p:pic>
      <p:sp>
        <p:nvSpPr>
          <p:cNvPr id="6" name="Text 3"/>
          <p:cNvSpPr/>
          <p:nvPr/>
        </p:nvSpPr>
        <p:spPr>
          <a:xfrm>
            <a:off x="1097280" y="1600200"/>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Manual recording of readings</a:t>
            </a:r>
            <a:endParaRPr lang="en-US" sz="1250" dirty="0"/>
          </a:p>
        </p:txBody>
      </p:sp>
      <p:sp>
        <p:nvSpPr>
          <p:cNvPr id="7" name="Shape 4"/>
          <p:cNvSpPr/>
          <p:nvPr/>
        </p:nvSpPr>
        <p:spPr>
          <a:xfrm>
            <a:off x="548640" y="2208276"/>
            <a:ext cx="6309360" cy="512064"/>
          </a:xfrm>
          <a:prstGeom prst="roundRect">
            <a:avLst>
              <a:gd name="adj" fmla="val 12500"/>
            </a:avLst>
          </a:prstGeom>
          <a:solidFill>
            <a:srgbClr val="FFFFFF"/>
          </a:solidFill>
          <a:ln w="12700">
            <a:solidFill>
              <a:srgbClr val="E4E1DA"/>
            </a:solidFill>
            <a:prstDash val="solid"/>
          </a:ln>
        </p:spPr>
      </p:sp>
      <p:pic>
        <p:nvPicPr>
          <p:cNvPr id="8" name="Image 1" descr="icon_x.png"/>
          <p:cNvPicPr>
            <a:picLocks noChangeAspect="1"/>
          </p:cNvPicPr>
          <p:nvPr/>
        </p:nvPicPr>
        <p:blipFill>
          <a:blip r:embed="rId3"/>
          <a:stretch>
            <a:fillRect/>
          </a:stretch>
        </p:blipFill>
        <p:spPr>
          <a:xfrm>
            <a:off x="685800" y="2327148"/>
            <a:ext cx="274320" cy="274320"/>
          </a:xfrm>
          <a:prstGeom prst="rect">
            <a:avLst/>
          </a:prstGeom>
        </p:spPr>
      </p:pic>
      <p:sp>
        <p:nvSpPr>
          <p:cNvPr id="9" name="Text 5"/>
          <p:cNvSpPr/>
          <p:nvPr/>
        </p:nvSpPr>
        <p:spPr>
          <a:xfrm>
            <a:off x="1097280" y="2208276"/>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Data scattered across Excel sheets / paper records</a:t>
            </a:r>
            <a:endParaRPr lang="en-US" sz="1250" dirty="0"/>
          </a:p>
        </p:txBody>
      </p:sp>
      <p:sp>
        <p:nvSpPr>
          <p:cNvPr id="10" name="Shape 6"/>
          <p:cNvSpPr/>
          <p:nvPr/>
        </p:nvSpPr>
        <p:spPr>
          <a:xfrm>
            <a:off x="548640" y="2816352"/>
            <a:ext cx="6309360" cy="512064"/>
          </a:xfrm>
          <a:prstGeom prst="roundRect">
            <a:avLst>
              <a:gd name="adj" fmla="val 12500"/>
            </a:avLst>
          </a:prstGeom>
          <a:solidFill>
            <a:srgbClr val="FFFFFF"/>
          </a:solidFill>
          <a:ln w="12700">
            <a:solidFill>
              <a:srgbClr val="E4E1DA"/>
            </a:solidFill>
            <a:prstDash val="solid"/>
          </a:ln>
        </p:spPr>
      </p:sp>
      <p:pic>
        <p:nvPicPr>
          <p:cNvPr id="11" name="Image 2" descr="icon_x.png"/>
          <p:cNvPicPr>
            <a:picLocks noChangeAspect="1"/>
          </p:cNvPicPr>
          <p:nvPr/>
        </p:nvPicPr>
        <p:blipFill>
          <a:blip r:embed="rId3"/>
          <a:stretch>
            <a:fillRect/>
          </a:stretch>
        </p:blipFill>
        <p:spPr>
          <a:xfrm>
            <a:off x="685800" y="2935224"/>
            <a:ext cx="274320" cy="274320"/>
          </a:xfrm>
          <a:prstGeom prst="rect">
            <a:avLst/>
          </a:prstGeom>
        </p:spPr>
      </p:pic>
      <p:sp>
        <p:nvSpPr>
          <p:cNvPr id="12" name="Text 7"/>
          <p:cNvSpPr/>
          <p:nvPr/>
        </p:nvSpPr>
        <p:spPr>
          <a:xfrm>
            <a:off x="1097280" y="2816352"/>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Difficult to identify repeated violations</a:t>
            </a:r>
            <a:endParaRPr lang="en-US" sz="1250" dirty="0"/>
          </a:p>
        </p:txBody>
      </p:sp>
      <p:sp>
        <p:nvSpPr>
          <p:cNvPr id="13" name="Shape 8"/>
          <p:cNvSpPr/>
          <p:nvPr/>
        </p:nvSpPr>
        <p:spPr>
          <a:xfrm>
            <a:off x="548640" y="3424428"/>
            <a:ext cx="6309360" cy="512064"/>
          </a:xfrm>
          <a:prstGeom prst="roundRect">
            <a:avLst>
              <a:gd name="adj" fmla="val 12500"/>
            </a:avLst>
          </a:prstGeom>
          <a:solidFill>
            <a:srgbClr val="FFFFFF"/>
          </a:solidFill>
          <a:ln w="12700">
            <a:solidFill>
              <a:srgbClr val="E4E1DA"/>
            </a:solidFill>
            <a:prstDash val="solid"/>
          </a:ln>
        </p:spPr>
      </p:sp>
      <p:pic>
        <p:nvPicPr>
          <p:cNvPr id="14" name="Image 3" descr="icon_x.png"/>
          <p:cNvPicPr>
            <a:picLocks noChangeAspect="1"/>
          </p:cNvPicPr>
          <p:nvPr/>
        </p:nvPicPr>
        <p:blipFill>
          <a:blip r:embed="rId3"/>
          <a:stretch>
            <a:fillRect/>
          </a:stretch>
        </p:blipFill>
        <p:spPr>
          <a:xfrm>
            <a:off x="685800" y="3543300"/>
            <a:ext cx="274320" cy="274320"/>
          </a:xfrm>
          <a:prstGeom prst="rect">
            <a:avLst/>
          </a:prstGeom>
        </p:spPr>
      </p:pic>
      <p:sp>
        <p:nvSpPr>
          <p:cNvPr id="15" name="Text 9"/>
          <p:cNvSpPr/>
          <p:nvPr/>
        </p:nvSpPr>
        <p:spPr>
          <a:xfrm>
            <a:off x="1097280" y="3424428"/>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No centralized dashboard</a:t>
            </a:r>
            <a:endParaRPr lang="en-US" sz="1250" dirty="0"/>
          </a:p>
        </p:txBody>
      </p:sp>
      <p:sp>
        <p:nvSpPr>
          <p:cNvPr id="16" name="Shape 10"/>
          <p:cNvSpPr/>
          <p:nvPr/>
        </p:nvSpPr>
        <p:spPr>
          <a:xfrm>
            <a:off x="548640" y="4032504"/>
            <a:ext cx="6309360" cy="512064"/>
          </a:xfrm>
          <a:prstGeom prst="roundRect">
            <a:avLst>
              <a:gd name="adj" fmla="val 12500"/>
            </a:avLst>
          </a:prstGeom>
          <a:solidFill>
            <a:srgbClr val="FFFFFF"/>
          </a:solidFill>
          <a:ln w="12700">
            <a:solidFill>
              <a:srgbClr val="E4E1DA"/>
            </a:solidFill>
            <a:prstDash val="solid"/>
          </a:ln>
        </p:spPr>
      </p:sp>
      <p:pic>
        <p:nvPicPr>
          <p:cNvPr id="17" name="Image 4" descr="icon_x.png"/>
          <p:cNvPicPr>
            <a:picLocks noChangeAspect="1"/>
          </p:cNvPicPr>
          <p:nvPr/>
        </p:nvPicPr>
        <p:blipFill>
          <a:blip r:embed="rId3"/>
          <a:stretch>
            <a:fillRect/>
          </a:stretch>
        </p:blipFill>
        <p:spPr>
          <a:xfrm>
            <a:off x="685800" y="4151376"/>
            <a:ext cx="274320" cy="274320"/>
          </a:xfrm>
          <a:prstGeom prst="rect">
            <a:avLst/>
          </a:prstGeom>
        </p:spPr>
      </p:pic>
      <p:sp>
        <p:nvSpPr>
          <p:cNvPr id="18" name="Text 11"/>
          <p:cNvSpPr/>
          <p:nvPr/>
        </p:nvSpPr>
        <p:spPr>
          <a:xfrm>
            <a:off x="1097280" y="4032504"/>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Difficult historical analysis</a:t>
            </a:r>
            <a:endParaRPr lang="en-US" sz="1250" dirty="0"/>
          </a:p>
        </p:txBody>
      </p:sp>
      <p:sp>
        <p:nvSpPr>
          <p:cNvPr id="19" name="Shape 12"/>
          <p:cNvSpPr/>
          <p:nvPr/>
        </p:nvSpPr>
        <p:spPr>
          <a:xfrm>
            <a:off x="548640" y="4640580"/>
            <a:ext cx="6309360" cy="512064"/>
          </a:xfrm>
          <a:prstGeom prst="roundRect">
            <a:avLst>
              <a:gd name="adj" fmla="val 12500"/>
            </a:avLst>
          </a:prstGeom>
          <a:solidFill>
            <a:srgbClr val="FFFFFF"/>
          </a:solidFill>
          <a:ln w="12700">
            <a:solidFill>
              <a:srgbClr val="E4E1DA"/>
            </a:solidFill>
            <a:prstDash val="solid"/>
          </a:ln>
        </p:spPr>
      </p:sp>
      <p:pic>
        <p:nvPicPr>
          <p:cNvPr id="20" name="Image 5" descr="icon_x.png"/>
          <p:cNvPicPr>
            <a:picLocks noChangeAspect="1"/>
          </p:cNvPicPr>
          <p:nvPr/>
        </p:nvPicPr>
        <p:blipFill>
          <a:blip r:embed="rId3"/>
          <a:stretch>
            <a:fillRect/>
          </a:stretch>
        </p:blipFill>
        <p:spPr>
          <a:xfrm>
            <a:off x="685800" y="4759452"/>
            <a:ext cx="274320" cy="274320"/>
          </a:xfrm>
          <a:prstGeom prst="rect">
            <a:avLst/>
          </a:prstGeom>
        </p:spPr>
      </p:pic>
      <p:sp>
        <p:nvSpPr>
          <p:cNvPr id="21" name="Text 13"/>
          <p:cNvSpPr/>
          <p:nvPr/>
        </p:nvSpPr>
        <p:spPr>
          <a:xfrm>
            <a:off x="1097280" y="4640580"/>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Time-consuming report preparation</a:t>
            </a:r>
            <a:endParaRPr lang="en-US" sz="1250" dirty="0"/>
          </a:p>
        </p:txBody>
      </p:sp>
      <p:sp>
        <p:nvSpPr>
          <p:cNvPr id="22" name="Shape 14"/>
          <p:cNvSpPr/>
          <p:nvPr/>
        </p:nvSpPr>
        <p:spPr>
          <a:xfrm>
            <a:off x="548640" y="5248656"/>
            <a:ext cx="6309360" cy="512064"/>
          </a:xfrm>
          <a:prstGeom prst="roundRect">
            <a:avLst>
              <a:gd name="adj" fmla="val 12500"/>
            </a:avLst>
          </a:prstGeom>
          <a:solidFill>
            <a:srgbClr val="FFFFFF"/>
          </a:solidFill>
          <a:ln w="12700">
            <a:solidFill>
              <a:srgbClr val="E4E1DA"/>
            </a:solidFill>
            <a:prstDash val="solid"/>
          </a:ln>
        </p:spPr>
      </p:sp>
      <p:pic>
        <p:nvPicPr>
          <p:cNvPr id="23" name="Image 6" descr="icon_x.png"/>
          <p:cNvPicPr>
            <a:picLocks noChangeAspect="1"/>
          </p:cNvPicPr>
          <p:nvPr/>
        </p:nvPicPr>
        <p:blipFill>
          <a:blip r:embed="rId3"/>
          <a:stretch>
            <a:fillRect/>
          </a:stretch>
        </p:blipFill>
        <p:spPr>
          <a:xfrm>
            <a:off x="685800" y="5367528"/>
            <a:ext cx="274320" cy="274320"/>
          </a:xfrm>
          <a:prstGeom prst="rect">
            <a:avLst/>
          </a:prstGeom>
        </p:spPr>
      </p:pic>
      <p:sp>
        <p:nvSpPr>
          <p:cNvPr id="24" name="Text 15"/>
          <p:cNvSpPr/>
          <p:nvPr/>
        </p:nvSpPr>
        <p:spPr>
          <a:xfrm>
            <a:off x="1097280" y="5248656"/>
            <a:ext cx="5669280" cy="512064"/>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Limited visibility of which construction zone has problems</a:t>
            </a:r>
            <a:endParaRPr lang="en-US" sz="1250" dirty="0"/>
          </a:p>
        </p:txBody>
      </p:sp>
      <p:sp>
        <p:nvSpPr>
          <p:cNvPr id="25" name="Shape 16"/>
          <p:cNvSpPr/>
          <p:nvPr/>
        </p:nvSpPr>
        <p:spPr>
          <a:xfrm>
            <a:off x="7178040" y="1600200"/>
            <a:ext cx="4462272" cy="4480560"/>
          </a:xfrm>
          <a:prstGeom prst="roundRect">
            <a:avLst>
              <a:gd name="adj" fmla="val 2459"/>
            </a:avLst>
          </a:prstGeom>
          <a:solidFill>
            <a:srgbClr val="2B2E33"/>
          </a:solidFill>
          <a:ln/>
        </p:spPr>
      </p:sp>
      <p:sp>
        <p:nvSpPr>
          <p:cNvPr id="26" name="Text 17"/>
          <p:cNvSpPr/>
          <p:nvPr/>
        </p:nvSpPr>
        <p:spPr>
          <a:xfrm>
            <a:off x="7452360" y="1691640"/>
            <a:ext cx="914400" cy="822960"/>
          </a:xfrm>
          <a:prstGeom prst="rect">
            <a:avLst/>
          </a:prstGeom>
          <a:noFill/>
          <a:ln/>
        </p:spPr>
        <p:txBody>
          <a:bodyPr wrap="square" rtlCol="0" anchor="ctr"/>
          <a:lstStyle/>
          <a:p>
            <a:pPr marL="0" indent="0">
              <a:buNone/>
            </a:pPr>
            <a:r>
              <a:rPr lang="en-US" sz="6000" b="1" dirty="0">
                <a:solidFill>
                  <a:srgbClr val="EA6A12"/>
                </a:solidFill>
                <a:latin typeface="Cambria" pitchFamily="34" charset="0"/>
                <a:ea typeface="Cambria" pitchFamily="34" charset="-122"/>
                <a:cs typeface="Cambria" pitchFamily="34" charset="-120"/>
              </a:rPr>
              <a:t>“</a:t>
            </a:r>
            <a:endParaRPr lang="en-US" sz="6000" dirty="0"/>
          </a:p>
        </p:txBody>
      </p:sp>
      <p:sp>
        <p:nvSpPr>
          <p:cNvPr id="27" name="Text 18"/>
          <p:cNvSpPr/>
          <p:nvPr/>
        </p:nvSpPr>
        <p:spPr>
          <a:xfrm>
            <a:off x="7543800" y="2423160"/>
            <a:ext cx="3931920" cy="2834640"/>
          </a:xfrm>
          <a:prstGeom prst="rect">
            <a:avLst/>
          </a:prstGeom>
          <a:noFill/>
          <a:ln/>
        </p:spPr>
        <p:txBody>
          <a:bodyPr wrap="square" rtlCol="0" anchor="ctr"/>
          <a:lstStyle/>
          <a:p>
            <a:pPr marL="0" indent="0">
              <a:lnSpc>
                <a:spcPct val="125000"/>
              </a:lnSpc>
              <a:buNone/>
            </a:pPr>
            <a:r>
              <a:rPr lang="en-US" sz="1550" i="1" dirty="0">
                <a:solidFill>
                  <a:srgbClr val="F5F3EE"/>
                </a:solidFill>
                <a:latin typeface="Cambria" pitchFamily="34" charset="0"/>
                <a:ea typeface="Cambria" pitchFamily="34" charset="-122"/>
                <a:cs typeface="Cambria" pitchFamily="34" charset="-120"/>
              </a:rPr>
              <a:t>There is a need for a centralized software system that can organize construction-site noise and dust monitoring data, automatically evaluate it against configured applicable limits, identify violations, visualize trends, and generate compliance reports.</a:t>
            </a:r>
            <a:endParaRPr lang="en-US" sz="1550" dirty="0"/>
          </a:p>
        </p:txBody>
      </p:sp>
      <p:sp>
        <p:nvSpPr>
          <p:cNvPr id="28" name="Shape 19"/>
          <p:cNvSpPr/>
          <p:nvPr/>
        </p:nvSpPr>
        <p:spPr>
          <a:xfrm>
            <a:off x="7543800" y="5440680"/>
            <a:ext cx="3566160" cy="0"/>
          </a:xfrm>
          <a:prstGeom prst="line">
            <a:avLst/>
          </a:prstGeom>
          <a:noFill/>
          <a:ln w="12700">
            <a:solidFill>
              <a:srgbClr val="45494F"/>
            </a:solidFill>
            <a:prstDash val="solid"/>
          </a:ln>
        </p:spPr>
      </p:sp>
      <p:sp>
        <p:nvSpPr>
          <p:cNvPr id="29" name="Text 20"/>
          <p:cNvSpPr/>
          <p:nvPr/>
        </p:nvSpPr>
        <p:spPr>
          <a:xfrm>
            <a:off x="7543800" y="5559552"/>
            <a:ext cx="3657600" cy="320040"/>
          </a:xfrm>
          <a:prstGeom prst="rect">
            <a:avLst/>
          </a:prstGeom>
          <a:noFill/>
          <a:ln/>
        </p:spPr>
        <p:txBody>
          <a:bodyPr wrap="square" rtlCol="0" anchor="ctr"/>
          <a:lstStyle/>
          <a:p>
            <a:pPr marL="0" indent="0">
              <a:buNone/>
            </a:pPr>
            <a:r>
              <a:rPr lang="en-US" sz="1050" b="1" kern="0" spc="200" dirty="0">
                <a:solidFill>
                  <a:srgbClr val="EA6A12"/>
                </a:solidFill>
                <a:latin typeface="Calibri" pitchFamily="34" charset="0"/>
                <a:ea typeface="Calibri" pitchFamily="34" charset="-122"/>
                <a:cs typeface="Calibri" pitchFamily="34" charset="-120"/>
              </a:rPr>
              <a:t>PROBLEM STATEMENT</a:t>
            </a:r>
            <a:endParaRPr lang="en-US" sz="1050" dirty="0"/>
          </a:p>
        </p:txBody>
      </p:sp>
      <p:sp>
        <p:nvSpPr>
          <p:cNvPr id="30" name="Text 21"/>
          <p:cNvSpPr/>
          <p:nvPr/>
        </p:nvSpPr>
        <p:spPr>
          <a:xfrm>
            <a:off x="457200" y="6492240"/>
            <a:ext cx="8686800" cy="274320"/>
          </a:xfrm>
          <a:prstGeom prst="rect">
            <a:avLst/>
          </a:prstGeom>
          <a:noFill/>
          <a:ln/>
        </p:spPr>
        <p:txBody>
          <a:bodyPr wrap="square" rtlCol="0" anchor="ctr"/>
          <a:lstStyle/>
          <a:p>
            <a:pPr marL="0" indent="0" algn="l">
              <a:buNone/>
            </a:pPr>
            <a:endParaRPr lang="en-US" sz="1100" dirty="0"/>
          </a:p>
        </p:txBody>
      </p:sp>
      <p:sp>
        <p:nvSpPr>
          <p:cNvPr id="31" name="Text 22"/>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03  —  OBJECTIVES</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Main Objectives</a:t>
            </a:r>
            <a:endParaRPr lang="en-US" sz="2900" dirty="0"/>
          </a:p>
        </p:txBody>
      </p:sp>
      <p:sp>
        <p:nvSpPr>
          <p:cNvPr id="4" name="Shape 2"/>
          <p:cNvSpPr/>
          <p:nvPr/>
        </p:nvSpPr>
        <p:spPr>
          <a:xfrm>
            <a:off x="548640" y="1600200"/>
            <a:ext cx="5440680" cy="841248"/>
          </a:xfrm>
          <a:prstGeom prst="roundRect">
            <a:avLst>
              <a:gd name="adj" fmla="val 8696"/>
            </a:avLst>
          </a:prstGeom>
          <a:solidFill>
            <a:srgbClr val="FFFFFF"/>
          </a:solidFill>
          <a:ln w="12700">
            <a:solidFill>
              <a:srgbClr val="E4E1DA"/>
            </a:solidFill>
            <a:prstDash val="solid"/>
          </a:ln>
        </p:spPr>
      </p:sp>
      <p:sp>
        <p:nvSpPr>
          <p:cNvPr id="5" name="Shape 3"/>
          <p:cNvSpPr/>
          <p:nvPr/>
        </p:nvSpPr>
        <p:spPr>
          <a:xfrm>
            <a:off x="713232" y="1801368"/>
            <a:ext cx="438912" cy="438912"/>
          </a:xfrm>
          <a:prstGeom prst="ellipse">
            <a:avLst/>
          </a:prstGeom>
          <a:solidFill>
            <a:srgbClr val="2B2E33"/>
          </a:solidFill>
          <a:ln/>
        </p:spPr>
      </p:sp>
      <p:sp>
        <p:nvSpPr>
          <p:cNvPr id="6" name="Text 4"/>
          <p:cNvSpPr/>
          <p:nvPr/>
        </p:nvSpPr>
        <p:spPr>
          <a:xfrm>
            <a:off x="713232" y="1801368"/>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80160" y="1673352"/>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Develop a software-only monitoring platform</a:t>
            </a:r>
            <a:endParaRPr lang="en-US" sz="1200" dirty="0"/>
          </a:p>
        </p:txBody>
      </p:sp>
      <p:sp>
        <p:nvSpPr>
          <p:cNvPr id="8" name="Shape 6"/>
          <p:cNvSpPr/>
          <p:nvPr/>
        </p:nvSpPr>
        <p:spPr>
          <a:xfrm>
            <a:off x="548640" y="2587752"/>
            <a:ext cx="5440680" cy="841248"/>
          </a:xfrm>
          <a:prstGeom prst="roundRect">
            <a:avLst>
              <a:gd name="adj" fmla="val 8696"/>
            </a:avLst>
          </a:prstGeom>
          <a:solidFill>
            <a:srgbClr val="FFFFFF"/>
          </a:solidFill>
          <a:ln w="12700">
            <a:solidFill>
              <a:srgbClr val="E4E1DA"/>
            </a:solidFill>
            <a:prstDash val="solid"/>
          </a:ln>
        </p:spPr>
      </p:sp>
      <p:sp>
        <p:nvSpPr>
          <p:cNvPr id="9" name="Shape 7"/>
          <p:cNvSpPr/>
          <p:nvPr/>
        </p:nvSpPr>
        <p:spPr>
          <a:xfrm>
            <a:off x="713232" y="2788920"/>
            <a:ext cx="438912" cy="438912"/>
          </a:xfrm>
          <a:prstGeom prst="ellipse">
            <a:avLst/>
          </a:prstGeom>
          <a:solidFill>
            <a:srgbClr val="2B2E33"/>
          </a:solidFill>
          <a:ln/>
        </p:spPr>
      </p:sp>
      <p:sp>
        <p:nvSpPr>
          <p:cNvPr id="10" name="Text 8"/>
          <p:cNvSpPr/>
          <p:nvPr/>
        </p:nvSpPr>
        <p:spPr>
          <a:xfrm>
            <a:off x="713232" y="2788920"/>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1280160" y="2660904"/>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Record noise and dust / particulate measurements</a:t>
            </a:r>
            <a:endParaRPr lang="en-US" sz="1200" dirty="0"/>
          </a:p>
        </p:txBody>
      </p:sp>
      <p:sp>
        <p:nvSpPr>
          <p:cNvPr id="12" name="Shape 10"/>
          <p:cNvSpPr/>
          <p:nvPr/>
        </p:nvSpPr>
        <p:spPr>
          <a:xfrm>
            <a:off x="548640" y="3575304"/>
            <a:ext cx="5440680" cy="841248"/>
          </a:xfrm>
          <a:prstGeom prst="roundRect">
            <a:avLst>
              <a:gd name="adj" fmla="val 8696"/>
            </a:avLst>
          </a:prstGeom>
          <a:solidFill>
            <a:srgbClr val="FFFFFF"/>
          </a:solidFill>
          <a:ln w="12700">
            <a:solidFill>
              <a:srgbClr val="E4E1DA"/>
            </a:solidFill>
            <a:prstDash val="solid"/>
          </a:ln>
        </p:spPr>
      </p:sp>
      <p:sp>
        <p:nvSpPr>
          <p:cNvPr id="13" name="Shape 11"/>
          <p:cNvSpPr/>
          <p:nvPr/>
        </p:nvSpPr>
        <p:spPr>
          <a:xfrm>
            <a:off x="713232" y="3776472"/>
            <a:ext cx="438912" cy="438912"/>
          </a:xfrm>
          <a:prstGeom prst="ellipse">
            <a:avLst/>
          </a:prstGeom>
          <a:solidFill>
            <a:srgbClr val="2B2E33"/>
          </a:solidFill>
          <a:ln/>
        </p:spPr>
      </p:sp>
      <p:sp>
        <p:nvSpPr>
          <p:cNvPr id="14" name="Text 12"/>
          <p:cNvSpPr/>
          <p:nvPr/>
        </p:nvSpPr>
        <p:spPr>
          <a:xfrm>
            <a:off x="713232" y="3776472"/>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280160" y="3648456"/>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Allow CSV / Excel data import</a:t>
            </a:r>
            <a:endParaRPr lang="en-US" sz="1200" dirty="0"/>
          </a:p>
        </p:txBody>
      </p:sp>
      <p:sp>
        <p:nvSpPr>
          <p:cNvPr id="16" name="Shape 14"/>
          <p:cNvSpPr/>
          <p:nvPr/>
        </p:nvSpPr>
        <p:spPr>
          <a:xfrm>
            <a:off x="548640" y="4562856"/>
            <a:ext cx="5440680" cy="841248"/>
          </a:xfrm>
          <a:prstGeom prst="roundRect">
            <a:avLst>
              <a:gd name="adj" fmla="val 8696"/>
            </a:avLst>
          </a:prstGeom>
          <a:solidFill>
            <a:srgbClr val="FFFFFF"/>
          </a:solidFill>
          <a:ln w="12700">
            <a:solidFill>
              <a:srgbClr val="E4E1DA"/>
            </a:solidFill>
            <a:prstDash val="solid"/>
          </a:ln>
        </p:spPr>
      </p:sp>
      <p:sp>
        <p:nvSpPr>
          <p:cNvPr id="17" name="Shape 15"/>
          <p:cNvSpPr/>
          <p:nvPr/>
        </p:nvSpPr>
        <p:spPr>
          <a:xfrm>
            <a:off x="713232" y="4764024"/>
            <a:ext cx="438912" cy="438912"/>
          </a:xfrm>
          <a:prstGeom prst="ellipse">
            <a:avLst/>
          </a:prstGeom>
          <a:solidFill>
            <a:srgbClr val="2B2E33"/>
          </a:solidFill>
          <a:ln/>
        </p:spPr>
      </p:sp>
      <p:sp>
        <p:nvSpPr>
          <p:cNvPr id="18" name="Text 16"/>
          <p:cNvSpPr/>
          <p:nvPr/>
        </p:nvSpPr>
        <p:spPr>
          <a:xfrm>
            <a:off x="713232" y="4764024"/>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1280160" y="4636008"/>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Compare readings against configured applicable thresholds</a:t>
            </a:r>
            <a:endParaRPr lang="en-US" sz="1200" dirty="0"/>
          </a:p>
        </p:txBody>
      </p:sp>
      <p:sp>
        <p:nvSpPr>
          <p:cNvPr id="20" name="Shape 18"/>
          <p:cNvSpPr/>
          <p:nvPr/>
        </p:nvSpPr>
        <p:spPr>
          <a:xfrm>
            <a:off x="548640" y="5550408"/>
            <a:ext cx="5440680" cy="841248"/>
          </a:xfrm>
          <a:prstGeom prst="roundRect">
            <a:avLst>
              <a:gd name="adj" fmla="val 8696"/>
            </a:avLst>
          </a:prstGeom>
          <a:solidFill>
            <a:srgbClr val="FFFFFF"/>
          </a:solidFill>
          <a:ln w="12700">
            <a:solidFill>
              <a:srgbClr val="E4E1DA"/>
            </a:solidFill>
            <a:prstDash val="solid"/>
          </a:ln>
        </p:spPr>
      </p:sp>
      <p:sp>
        <p:nvSpPr>
          <p:cNvPr id="21" name="Shape 19"/>
          <p:cNvSpPr/>
          <p:nvPr/>
        </p:nvSpPr>
        <p:spPr>
          <a:xfrm>
            <a:off x="713232" y="5751576"/>
            <a:ext cx="438912" cy="438912"/>
          </a:xfrm>
          <a:prstGeom prst="ellipse">
            <a:avLst/>
          </a:prstGeom>
          <a:solidFill>
            <a:srgbClr val="EA6A12"/>
          </a:solidFill>
          <a:ln/>
        </p:spPr>
      </p:sp>
      <p:sp>
        <p:nvSpPr>
          <p:cNvPr id="22" name="Text 20"/>
          <p:cNvSpPr/>
          <p:nvPr/>
        </p:nvSpPr>
        <p:spPr>
          <a:xfrm>
            <a:off x="713232" y="5751576"/>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5</a:t>
            </a:r>
            <a:endParaRPr lang="en-US" sz="1400" dirty="0"/>
          </a:p>
        </p:txBody>
      </p:sp>
      <p:sp>
        <p:nvSpPr>
          <p:cNvPr id="23" name="Text 21"/>
          <p:cNvSpPr/>
          <p:nvPr/>
        </p:nvSpPr>
        <p:spPr>
          <a:xfrm>
            <a:off x="1280160" y="5623560"/>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Classify readings as Normal, Warning or Exceeded</a:t>
            </a:r>
            <a:endParaRPr lang="en-US" sz="1200" dirty="0"/>
          </a:p>
        </p:txBody>
      </p:sp>
      <p:sp>
        <p:nvSpPr>
          <p:cNvPr id="24" name="Shape 22"/>
          <p:cNvSpPr/>
          <p:nvPr/>
        </p:nvSpPr>
        <p:spPr>
          <a:xfrm>
            <a:off x="6355080" y="1600200"/>
            <a:ext cx="5440680" cy="841248"/>
          </a:xfrm>
          <a:prstGeom prst="roundRect">
            <a:avLst>
              <a:gd name="adj" fmla="val 8696"/>
            </a:avLst>
          </a:prstGeom>
          <a:solidFill>
            <a:srgbClr val="FFFFFF"/>
          </a:solidFill>
          <a:ln w="12700">
            <a:solidFill>
              <a:srgbClr val="E4E1DA"/>
            </a:solidFill>
            <a:prstDash val="solid"/>
          </a:ln>
        </p:spPr>
      </p:sp>
      <p:sp>
        <p:nvSpPr>
          <p:cNvPr id="25" name="Shape 23"/>
          <p:cNvSpPr/>
          <p:nvPr/>
        </p:nvSpPr>
        <p:spPr>
          <a:xfrm>
            <a:off x="6519672" y="1801368"/>
            <a:ext cx="438912" cy="438912"/>
          </a:xfrm>
          <a:prstGeom prst="ellipse">
            <a:avLst/>
          </a:prstGeom>
          <a:solidFill>
            <a:srgbClr val="2B2E33"/>
          </a:solidFill>
          <a:ln/>
        </p:spPr>
      </p:sp>
      <p:sp>
        <p:nvSpPr>
          <p:cNvPr id="26" name="Text 24"/>
          <p:cNvSpPr/>
          <p:nvPr/>
        </p:nvSpPr>
        <p:spPr>
          <a:xfrm>
            <a:off x="6519672" y="1801368"/>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6</a:t>
            </a:r>
            <a:endParaRPr lang="en-US" sz="1400" dirty="0"/>
          </a:p>
        </p:txBody>
      </p:sp>
      <p:sp>
        <p:nvSpPr>
          <p:cNvPr id="27" name="Text 25"/>
          <p:cNvSpPr/>
          <p:nvPr/>
        </p:nvSpPr>
        <p:spPr>
          <a:xfrm>
            <a:off x="7086600" y="1673352"/>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Generate alerts for abnormal readings</a:t>
            </a:r>
            <a:endParaRPr lang="en-US" sz="1200" dirty="0"/>
          </a:p>
        </p:txBody>
      </p:sp>
      <p:sp>
        <p:nvSpPr>
          <p:cNvPr id="28" name="Shape 26"/>
          <p:cNvSpPr/>
          <p:nvPr/>
        </p:nvSpPr>
        <p:spPr>
          <a:xfrm>
            <a:off x="6355080" y="2587752"/>
            <a:ext cx="5440680" cy="841248"/>
          </a:xfrm>
          <a:prstGeom prst="roundRect">
            <a:avLst>
              <a:gd name="adj" fmla="val 8696"/>
            </a:avLst>
          </a:prstGeom>
          <a:solidFill>
            <a:srgbClr val="FFFFFF"/>
          </a:solidFill>
          <a:ln w="12700">
            <a:solidFill>
              <a:srgbClr val="E4E1DA"/>
            </a:solidFill>
            <a:prstDash val="solid"/>
          </a:ln>
        </p:spPr>
      </p:sp>
      <p:sp>
        <p:nvSpPr>
          <p:cNvPr id="29" name="Shape 27"/>
          <p:cNvSpPr/>
          <p:nvPr/>
        </p:nvSpPr>
        <p:spPr>
          <a:xfrm>
            <a:off x="6519672" y="2788920"/>
            <a:ext cx="438912" cy="438912"/>
          </a:xfrm>
          <a:prstGeom prst="ellipse">
            <a:avLst/>
          </a:prstGeom>
          <a:solidFill>
            <a:srgbClr val="2B2E33"/>
          </a:solidFill>
          <a:ln/>
        </p:spPr>
      </p:sp>
      <p:sp>
        <p:nvSpPr>
          <p:cNvPr id="30" name="Text 28"/>
          <p:cNvSpPr/>
          <p:nvPr/>
        </p:nvSpPr>
        <p:spPr>
          <a:xfrm>
            <a:off x="6519672" y="2788920"/>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7</a:t>
            </a:r>
            <a:endParaRPr lang="en-US" sz="1400" dirty="0"/>
          </a:p>
        </p:txBody>
      </p:sp>
      <p:sp>
        <p:nvSpPr>
          <p:cNvPr id="31" name="Text 29"/>
          <p:cNvSpPr/>
          <p:nvPr/>
        </p:nvSpPr>
        <p:spPr>
          <a:xfrm>
            <a:off x="7086600" y="2660904"/>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Maintain historical monitoring records</a:t>
            </a:r>
            <a:endParaRPr lang="en-US" sz="1200" dirty="0"/>
          </a:p>
        </p:txBody>
      </p:sp>
      <p:sp>
        <p:nvSpPr>
          <p:cNvPr id="32" name="Shape 30"/>
          <p:cNvSpPr/>
          <p:nvPr/>
        </p:nvSpPr>
        <p:spPr>
          <a:xfrm>
            <a:off x="6355080" y="3575304"/>
            <a:ext cx="5440680" cy="841248"/>
          </a:xfrm>
          <a:prstGeom prst="roundRect">
            <a:avLst>
              <a:gd name="adj" fmla="val 8696"/>
            </a:avLst>
          </a:prstGeom>
          <a:solidFill>
            <a:srgbClr val="FFFFFF"/>
          </a:solidFill>
          <a:ln w="12700">
            <a:solidFill>
              <a:srgbClr val="E4E1DA"/>
            </a:solidFill>
            <a:prstDash val="solid"/>
          </a:ln>
        </p:spPr>
      </p:sp>
      <p:sp>
        <p:nvSpPr>
          <p:cNvPr id="33" name="Shape 31"/>
          <p:cNvSpPr/>
          <p:nvPr/>
        </p:nvSpPr>
        <p:spPr>
          <a:xfrm>
            <a:off x="6519672" y="3776472"/>
            <a:ext cx="438912" cy="438912"/>
          </a:xfrm>
          <a:prstGeom prst="ellipse">
            <a:avLst/>
          </a:prstGeom>
          <a:solidFill>
            <a:srgbClr val="2B2E33"/>
          </a:solidFill>
          <a:ln/>
        </p:spPr>
      </p:sp>
      <p:sp>
        <p:nvSpPr>
          <p:cNvPr id="34" name="Text 32"/>
          <p:cNvSpPr/>
          <p:nvPr/>
        </p:nvSpPr>
        <p:spPr>
          <a:xfrm>
            <a:off x="6519672" y="3776472"/>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8</a:t>
            </a:r>
            <a:endParaRPr lang="en-US" sz="1400" dirty="0"/>
          </a:p>
        </p:txBody>
      </p:sp>
      <p:sp>
        <p:nvSpPr>
          <p:cNvPr id="35" name="Text 33"/>
          <p:cNvSpPr/>
          <p:nvPr/>
        </p:nvSpPr>
        <p:spPr>
          <a:xfrm>
            <a:off x="7086600" y="3648456"/>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Provide graphical visualization</a:t>
            </a:r>
            <a:endParaRPr lang="en-US" sz="1200" dirty="0"/>
          </a:p>
        </p:txBody>
      </p:sp>
      <p:sp>
        <p:nvSpPr>
          <p:cNvPr id="36" name="Shape 34"/>
          <p:cNvSpPr/>
          <p:nvPr/>
        </p:nvSpPr>
        <p:spPr>
          <a:xfrm>
            <a:off x="6355080" y="4562856"/>
            <a:ext cx="5440680" cy="841248"/>
          </a:xfrm>
          <a:prstGeom prst="roundRect">
            <a:avLst>
              <a:gd name="adj" fmla="val 8696"/>
            </a:avLst>
          </a:prstGeom>
          <a:solidFill>
            <a:srgbClr val="FFFFFF"/>
          </a:solidFill>
          <a:ln w="12700">
            <a:solidFill>
              <a:srgbClr val="E4E1DA"/>
            </a:solidFill>
            <a:prstDash val="solid"/>
          </a:ln>
        </p:spPr>
      </p:sp>
      <p:sp>
        <p:nvSpPr>
          <p:cNvPr id="37" name="Shape 35"/>
          <p:cNvSpPr/>
          <p:nvPr/>
        </p:nvSpPr>
        <p:spPr>
          <a:xfrm>
            <a:off x="6519672" y="4764024"/>
            <a:ext cx="438912" cy="438912"/>
          </a:xfrm>
          <a:prstGeom prst="ellipse">
            <a:avLst/>
          </a:prstGeom>
          <a:solidFill>
            <a:srgbClr val="2B2E33"/>
          </a:solidFill>
          <a:ln/>
        </p:spPr>
      </p:sp>
      <p:sp>
        <p:nvSpPr>
          <p:cNvPr id="38" name="Text 36"/>
          <p:cNvSpPr/>
          <p:nvPr/>
        </p:nvSpPr>
        <p:spPr>
          <a:xfrm>
            <a:off x="6519672" y="4764024"/>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9</a:t>
            </a:r>
            <a:endParaRPr lang="en-US" sz="1400" dirty="0"/>
          </a:p>
        </p:txBody>
      </p:sp>
      <p:sp>
        <p:nvSpPr>
          <p:cNvPr id="39" name="Text 37"/>
          <p:cNvSpPr/>
          <p:nvPr/>
        </p:nvSpPr>
        <p:spPr>
          <a:xfrm>
            <a:off x="7086600" y="4636008"/>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Generate downloadable compliance reports</a:t>
            </a:r>
            <a:endParaRPr lang="en-US" sz="1200" dirty="0"/>
          </a:p>
        </p:txBody>
      </p:sp>
      <p:sp>
        <p:nvSpPr>
          <p:cNvPr id="40" name="Shape 38"/>
          <p:cNvSpPr/>
          <p:nvPr/>
        </p:nvSpPr>
        <p:spPr>
          <a:xfrm>
            <a:off x="6355080" y="5550408"/>
            <a:ext cx="5440680" cy="841248"/>
          </a:xfrm>
          <a:prstGeom prst="roundRect">
            <a:avLst>
              <a:gd name="adj" fmla="val 8696"/>
            </a:avLst>
          </a:prstGeom>
          <a:solidFill>
            <a:srgbClr val="FFFFFF"/>
          </a:solidFill>
          <a:ln w="12700">
            <a:solidFill>
              <a:srgbClr val="E4E1DA"/>
            </a:solidFill>
            <a:prstDash val="solid"/>
          </a:ln>
        </p:spPr>
      </p:sp>
      <p:sp>
        <p:nvSpPr>
          <p:cNvPr id="41" name="Shape 39"/>
          <p:cNvSpPr/>
          <p:nvPr/>
        </p:nvSpPr>
        <p:spPr>
          <a:xfrm>
            <a:off x="6519672" y="5751576"/>
            <a:ext cx="438912" cy="438912"/>
          </a:xfrm>
          <a:prstGeom prst="ellipse">
            <a:avLst/>
          </a:prstGeom>
          <a:solidFill>
            <a:srgbClr val="EA6A12"/>
          </a:solidFill>
          <a:ln/>
        </p:spPr>
      </p:sp>
      <p:sp>
        <p:nvSpPr>
          <p:cNvPr id="42" name="Text 40"/>
          <p:cNvSpPr/>
          <p:nvPr/>
        </p:nvSpPr>
        <p:spPr>
          <a:xfrm>
            <a:off x="6519672" y="5751576"/>
            <a:ext cx="438912" cy="438912"/>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10</a:t>
            </a:r>
            <a:endParaRPr lang="en-US" sz="1400" dirty="0"/>
          </a:p>
        </p:txBody>
      </p:sp>
      <p:sp>
        <p:nvSpPr>
          <p:cNvPr id="43" name="Text 41"/>
          <p:cNvSpPr/>
          <p:nvPr/>
        </p:nvSpPr>
        <p:spPr>
          <a:xfrm>
            <a:off x="7086600" y="5623560"/>
            <a:ext cx="4526280" cy="694944"/>
          </a:xfrm>
          <a:prstGeom prst="rect">
            <a:avLst/>
          </a:prstGeom>
          <a:noFill/>
          <a:ln/>
        </p:spPr>
        <p:txBody>
          <a:bodyPr wrap="square" rtlCol="0" anchor="ctr"/>
          <a:lstStyle/>
          <a:p>
            <a:pPr marL="0" indent="0">
              <a:lnSpc>
                <a:spcPct val="105000"/>
              </a:lnSpc>
              <a:buNone/>
            </a:pPr>
            <a:r>
              <a:rPr lang="en-US" sz="1200" dirty="0">
                <a:solidFill>
                  <a:srgbClr val="1E2024"/>
                </a:solidFill>
                <a:latin typeface="Calibri" pitchFamily="34" charset="0"/>
                <a:ea typeface="Calibri" pitchFamily="34" charset="-122"/>
                <a:cs typeface="Calibri" pitchFamily="34" charset="-120"/>
              </a:rPr>
              <a:t>Add AI-based anomaly detection as an advanced feature</a:t>
            </a:r>
            <a:endParaRPr lang="en-US" sz="1200" dirty="0"/>
          </a:p>
        </p:txBody>
      </p:sp>
      <p:sp>
        <p:nvSpPr>
          <p:cNvPr id="45" name="Text 43"/>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04  —  LITERATURE REVIEW</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What Existing Research Shows</a:t>
            </a:r>
            <a:endParaRPr lang="en-US" sz="2900" dirty="0"/>
          </a:p>
        </p:txBody>
      </p:sp>
      <p:sp>
        <p:nvSpPr>
          <p:cNvPr id="4" name="Shape 2"/>
          <p:cNvSpPr/>
          <p:nvPr/>
        </p:nvSpPr>
        <p:spPr>
          <a:xfrm>
            <a:off x="548640" y="1417320"/>
            <a:ext cx="5440680" cy="1691640"/>
          </a:xfrm>
          <a:prstGeom prst="roundRect">
            <a:avLst>
              <a:gd name="adj" fmla="val 5405"/>
            </a:avLst>
          </a:prstGeom>
          <a:solidFill>
            <a:srgbClr val="FFFFFF"/>
          </a:solidFill>
          <a:ln w="12700">
            <a:solidFill>
              <a:srgbClr val="E4E1DA"/>
            </a:solidFill>
            <a:prstDash val="solid"/>
          </a:ln>
        </p:spPr>
      </p:sp>
      <p:sp>
        <p:nvSpPr>
          <p:cNvPr id="5" name="Shape 3"/>
          <p:cNvSpPr/>
          <p:nvPr/>
        </p:nvSpPr>
        <p:spPr>
          <a:xfrm>
            <a:off x="777240" y="1600200"/>
            <a:ext cx="640080" cy="292608"/>
          </a:xfrm>
          <a:prstGeom prst="roundRect">
            <a:avLst>
              <a:gd name="adj" fmla="val 18750"/>
            </a:avLst>
          </a:prstGeom>
          <a:solidFill>
            <a:srgbClr val="EA6A12"/>
          </a:solidFill>
          <a:ln/>
        </p:spPr>
      </p:sp>
      <p:sp>
        <p:nvSpPr>
          <p:cNvPr id="6" name="Text 4"/>
          <p:cNvSpPr/>
          <p:nvPr/>
        </p:nvSpPr>
        <p:spPr>
          <a:xfrm>
            <a:off x="777240" y="1600200"/>
            <a:ext cx="640080" cy="292608"/>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2021</a:t>
            </a:r>
            <a:endParaRPr lang="en-US" sz="1150" dirty="0"/>
          </a:p>
        </p:txBody>
      </p:sp>
      <p:sp>
        <p:nvSpPr>
          <p:cNvPr id="7" name="Text 5"/>
          <p:cNvSpPr/>
          <p:nvPr/>
        </p:nvSpPr>
        <p:spPr>
          <a:xfrm>
            <a:off x="1554480" y="1581912"/>
            <a:ext cx="4206240" cy="457200"/>
          </a:xfrm>
          <a:prstGeom prst="rect">
            <a:avLst/>
          </a:prstGeom>
          <a:noFill/>
          <a:ln/>
        </p:spPr>
        <p:txBody>
          <a:bodyPr wrap="square" rtlCol="0" anchor="ctr"/>
          <a:lstStyle/>
          <a:p>
            <a:pPr marL="0" indent="0">
              <a:buNone/>
            </a:pPr>
            <a:r>
              <a:rPr lang="en-US" sz="1250" b="1" dirty="0">
                <a:solidFill>
                  <a:srgbClr val="2B2E33"/>
                </a:solidFill>
                <a:latin typeface="Cambria" pitchFamily="34" charset="0"/>
                <a:ea typeface="Cambria" pitchFamily="34" charset="-122"/>
                <a:cs typeface="Cambria" pitchFamily="34" charset="-120"/>
              </a:rPr>
              <a:t>Kim et al., Int. J. Environ. Res. Public Health</a:t>
            </a:r>
            <a:endParaRPr lang="en-US" sz="1250" dirty="0"/>
          </a:p>
        </p:txBody>
      </p:sp>
      <p:sp>
        <p:nvSpPr>
          <p:cNvPr id="8" name="Text 6"/>
          <p:cNvSpPr/>
          <p:nvPr/>
        </p:nvSpPr>
        <p:spPr>
          <a:xfrm>
            <a:off x="777240" y="2103120"/>
            <a:ext cx="4983480" cy="868680"/>
          </a:xfrm>
          <a:prstGeom prst="rect">
            <a:avLst/>
          </a:prstGeom>
          <a:noFill/>
          <a:ln/>
        </p:spPr>
        <p:txBody>
          <a:bodyPr wrap="square" rtlCol="0" anchor="ctr"/>
          <a:lstStyle/>
          <a:p>
            <a:pPr marL="0" indent="0">
              <a:lnSpc>
                <a:spcPct val="115000"/>
              </a:lnSpc>
              <a:buNone/>
            </a:pPr>
            <a:r>
              <a:rPr lang="en-US" sz="1200" dirty="0">
                <a:solidFill>
                  <a:srgbClr val="6B7076"/>
                </a:solidFill>
                <a:latin typeface="Calibri" pitchFamily="34" charset="0"/>
                <a:ea typeface="Calibri" pitchFamily="34" charset="-122"/>
                <a:cs typeface="Calibri" pitchFamily="34" charset="-120"/>
              </a:rPr>
              <a:t>Built an IoT particulate-matter (PM2.5/PM10) monitoring system for construction sites, noting no system then existed for real-time PM tracking across multiple site locations.</a:t>
            </a:r>
            <a:endParaRPr lang="en-US" sz="1200" dirty="0"/>
          </a:p>
        </p:txBody>
      </p:sp>
      <p:sp>
        <p:nvSpPr>
          <p:cNvPr id="9" name="Shape 7"/>
          <p:cNvSpPr/>
          <p:nvPr/>
        </p:nvSpPr>
        <p:spPr>
          <a:xfrm>
            <a:off x="6355080" y="1417320"/>
            <a:ext cx="5440680" cy="1691640"/>
          </a:xfrm>
          <a:prstGeom prst="roundRect">
            <a:avLst>
              <a:gd name="adj" fmla="val 5405"/>
            </a:avLst>
          </a:prstGeom>
          <a:solidFill>
            <a:srgbClr val="FFFFFF"/>
          </a:solidFill>
          <a:ln w="12700">
            <a:solidFill>
              <a:srgbClr val="E4E1DA"/>
            </a:solidFill>
            <a:prstDash val="solid"/>
          </a:ln>
        </p:spPr>
      </p:sp>
      <p:sp>
        <p:nvSpPr>
          <p:cNvPr id="10" name="Shape 8"/>
          <p:cNvSpPr/>
          <p:nvPr/>
        </p:nvSpPr>
        <p:spPr>
          <a:xfrm>
            <a:off x="6583680" y="1600200"/>
            <a:ext cx="640080" cy="292608"/>
          </a:xfrm>
          <a:prstGeom prst="roundRect">
            <a:avLst>
              <a:gd name="adj" fmla="val 18750"/>
            </a:avLst>
          </a:prstGeom>
          <a:solidFill>
            <a:srgbClr val="EA6A12"/>
          </a:solidFill>
          <a:ln/>
        </p:spPr>
      </p:sp>
      <p:sp>
        <p:nvSpPr>
          <p:cNvPr id="11" name="Text 9"/>
          <p:cNvSpPr/>
          <p:nvPr/>
        </p:nvSpPr>
        <p:spPr>
          <a:xfrm>
            <a:off x="6583680" y="1600200"/>
            <a:ext cx="640080" cy="292608"/>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2020</a:t>
            </a:r>
            <a:endParaRPr lang="en-US" sz="1150" dirty="0"/>
          </a:p>
        </p:txBody>
      </p:sp>
      <p:sp>
        <p:nvSpPr>
          <p:cNvPr id="12" name="Text 10"/>
          <p:cNvSpPr/>
          <p:nvPr/>
        </p:nvSpPr>
        <p:spPr>
          <a:xfrm>
            <a:off x="7360920" y="1581912"/>
            <a:ext cx="4206240" cy="457200"/>
          </a:xfrm>
          <a:prstGeom prst="rect">
            <a:avLst/>
          </a:prstGeom>
          <a:noFill/>
          <a:ln/>
        </p:spPr>
        <p:txBody>
          <a:bodyPr wrap="square" rtlCol="0" anchor="ctr"/>
          <a:lstStyle/>
          <a:p>
            <a:pPr marL="0" indent="0">
              <a:buNone/>
            </a:pPr>
            <a:r>
              <a:rPr lang="en-US" sz="1250" b="1" dirty="0">
                <a:solidFill>
                  <a:srgbClr val="2B2E33"/>
                </a:solidFill>
                <a:latin typeface="Cambria" pitchFamily="34" charset="0"/>
                <a:ea typeface="Cambria" pitchFamily="34" charset="-122"/>
                <a:cs typeface="Cambria" pitchFamily="34" charset="-120"/>
              </a:rPr>
              <a:t>Utepov et al., IoT-Based Noise Monitoring (NOMOS)</a:t>
            </a:r>
            <a:endParaRPr lang="en-US" sz="1250" dirty="0"/>
          </a:p>
        </p:txBody>
      </p:sp>
      <p:sp>
        <p:nvSpPr>
          <p:cNvPr id="13" name="Text 11"/>
          <p:cNvSpPr/>
          <p:nvPr/>
        </p:nvSpPr>
        <p:spPr>
          <a:xfrm>
            <a:off x="6583680" y="2103120"/>
            <a:ext cx="4983480" cy="868680"/>
          </a:xfrm>
          <a:prstGeom prst="rect">
            <a:avLst/>
          </a:prstGeom>
          <a:noFill/>
          <a:ln/>
        </p:spPr>
        <p:txBody>
          <a:bodyPr wrap="square" rtlCol="0" anchor="ctr"/>
          <a:lstStyle/>
          <a:p>
            <a:pPr marL="0" indent="0">
              <a:lnSpc>
                <a:spcPct val="115000"/>
              </a:lnSpc>
              <a:buNone/>
            </a:pPr>
            <a:r>
              <a:rPr lang="en-US" sz="1200" dirty="0">
                <a:solidFill>
                  <a:srgbClr val="6B7076"/>
                </a:solidFill>
                <a:latin typeface="Calibri" pitchFamily="34" charset="0"/>
                <a:ea typeface="Calibri" pitchFamily="34" charset="-122"/>
                <a:cs typeface="Calibri" pitchFamily="34" charset="-120"/>
              </a:rPr>
              <a:t>Found that most commercial noise-monitoring tools are not IoT-integrated, which limits simultaneous data sync, remote storage and processing.</a:t>
            </a:r>
            <a:endParaRPr lang="en-US" sz="1200" dirty="0"/>
          </a:p>
        </p:txBody>
      </p:sp>
      <p:sp>
        <p:nvSpPr>
          <p:cNvPr id="14" name="Shape 12"/>
          <p:cNvSpPr/>
          <p:nvPr/>
        </p:nvSpPr>
        <p:spPr>
          <a:xfrm>
            <a:off x="548640" y="3246120"/>
            <a:ext cx="5440680" cy="1691640"/>
          </a:xfrm>
          <a:prstGeom prst="roundRect">
            <a:avLst>
              <a:gd name="adj" fmla="val 5405"/>
            </a:avLst>
          </a:prstGeom>
          <a:solidFill>
            <a:srgbClr val="FFFFFF"/>
          </a:solidFill>
          <a:ln w="12700">
            <a:solidFill>
              <a:srgbClr val="E4E1DA"/>
            </a:solidFill>
            <a:prstDash val="solid"/>
          </a:ln>
        </p:spPr>
      </p:sp>
      <p:sp>
        <p:nvSpPr>
          <p:cNvPr id="15" name="Shape 13"/>
          <p:cNvSpPr/>
          <p:nvPr/>
        </p:nvSpPr>
        <p:spPr>
          <a:xfrm>
            <a:off x="777240" y="3429000"/>
            <a:ext cx="640080" cy="292608"/>
          </a:xfrm>
          <a:prstGeom prst="roundRect">
            <a:avLst>
              <a:gd name="adj" fmla="val 18750"/>
            </a:avLst>
          </a:prstGeom>
          <a:solidFill>
            <a:srgbClr val="EA6A12"/>
          </a:solidFill>
          <a:ln/>
        </p:spPr>
      </p:sp>
      <p:sp>
        <p:nvSpPr>
          <p:cNvPr id="16" name="Text 14"/>
          <p:cNvSpPr/>
          <p:nvPr/>
        </p:nvSpPr>
        <p:spPr>
          <a:xfrm>
            <a:off x="777240" y="3429000"/>
            <a:ext cx="640080" cy="292608"/>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2019</a:t>
            </a:r>
            <a:endParaRPr lang="en-US" sz="1150" dirty="0"/>
          </a:p>
        </p:txBody>
      </p:sp>
      <p:sp>
        <p:nvSpPr>
          <p:cNvPr id="17" name="Text 15"/>
          <p:cNvSpPr/>
          <p:nvPr/>
        </p:nvSpPr>
        <p:spPr>
          <a:xfrm>
            <a:off x="1554480" y="3410712"/>
            <a:ext cx="4206240" cy="457200"/>
          </a:xfrm>
          <a:prstGeom prst="rect">
            <a:avLst/>
          </a:prstGeom>
          <a:noFill/>
          <a:ln/>
        </p:spPr>
        <p:txBody>
          <a:bodyPr wrap="square" rtlCol="0" anchor="ctr"/>
          <a:lstStyle/>
          <a:p>
            <a:pPr marL="0" indent="0">
              <a:buNone/>
            </a:pPr>
            <a:r>
              <a:rPr lang="en-US" sz="1250" b="1" dirty="0">
                <a:solidFill>
                  <a:srgbClr val="2B2E33"/>
                </a:solidFill>
                <a:latin typeface="Cambria" pitchFamily="34" charset="0"/>
                <a:ea typeface="Cambria" pitchFamily="34" charset="-122"/>
                <a:cs typeface="Cambria" pitchFamily="34" charset="-120"/>
              </a:rPr>
              <a:t>CRPASE — Construction Site Ambient Noise Monitoring</a:t>
            </a:r>
            <a:endParaRPr lang="en-US" sz="1250" dirty="0"/>
          </a:p>
        </p:txBody>
      </p:sp>
      <p:sp>
        <p:nvSpPr>
          <p:cNvPr id="18" name="Text 16"/>
          <p:cNvSpPr/>
          <p:nvPr/>
        </p:nvSpPr>
        <p:spPr>
          <a:xfrm>
            <a:off x="777240" y="3931920"/>
            <a:ext cx="4983480" cy="868680"/>
          </a:xfrm>
          <a:prstGeom prst="rect">
            <a:avLst/>
          </a:prstGeom>
          <a:noFill/>
          <a:ln/>
        </p:spPr>
        <p:txBody>
          <a:bodyPr wrap="square" rtlCol="0" anchor="ctr"/>
          <a:lstStyle/>
          <a:p>
            <a:pPr marL="0" indent="0">
              <a:lnSpc>
                <a:spcPct val="115000"/>
              </a:lnSpc>
              <a:buNone/>
            </a:pPr>
            <a:r>
              <a:rPr lang="en-US" sz="1200" dirty="0">
                <a:solidFill>
                  <a:srgbClr val="6B7076"/>
                </a:solidFill>
                <a:latin typeface="Calibri" pitchFamily="34" charset="0"/>
                <a:ea typeface="Calibri" pitchFamily="34" charset="-122"/>
                <a:cs typeface="Calibri" pitchFamily="34" charset="-120"/>
              </a:rPr>
              <a:t>Observed that conventional noise-level meters need an operator on site and only capture readings during working hours, motivating continuous cloud-based monitoring.</a:t>
            </a:r>
            <a:endParaRPr lang="en-US" sz="1200" dirty="0"/>
          </a:p>
        </p:txBody>
      </p:sp>
      <p:sp>
        <p:nvSpPr>
          <p:cNvPr id="19" name="Shape 17"/>
          <p:cNvSpPr/>
          <p:nvPr/>
        </p:nvSpPr>
        <p:spPr>
          <a:xfrm>
            <a:off x="6355080" y="3246120"/>
            <a:ext cx="5440680" cy="1691640"/>
          </a:xfrm>
          <a:prstGeom prst="roundRect">
            <a:avLst>
              <a:gd name="adj" fmla="val 5405"/>
            </a:avLst>
          </a:prstGeom>
          <a:solidFill>
            <a:srgbClr val="FFFFFF"/>
          </a:solidFill>
          <a:ln w="12700">
            <a:solidFill>
              <a:srgbClr val="E4E1DA"/>
            </a:solidFill>
            <a:prstDash val="solid"/>
          </a:ln>
        </p:spPr>
      </p:sp>
      <p:sp>
        <p:nvSpPr>
          <p:cNvPr id="20" name="Shape 18"/>
          <p:cNvSpPr/>
          <p:nvPr/>
        </p:nvSpPr>
        <p:spPr>
          <a:xfrm>
            <a:off x="6583680" y="3429000"/>
            <a:ext cx="640080" cy="292608"/>
          </a:xfrm>
          <a:prstGeom prst="roundRect">
            <a:avLst>
              <a:gd name="adj" fmla="val 18750"/>
            </a:avLst>
          </a:prstGeom>
          <a:solidFill>
            <a:srgbClr val="EA6A12"/>
          </a:solidFill>
          <a:ln/>
        </p:spPr>
      </p:sp>
      <p:sp>
        <p:nvSpPr>
          <p:cNvPr id="21" name="Text 19"/>
          <p:cNvSpPr/>
          <p:nvPr/>
        </p:nvSpPr>
        <p:spPr>
          <a:xfrm>
            <a:off x="6583680" y="3429000"/>
            <a:ext cx="640080" cy="292608"/>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2025</a:t>
            </a:r>
            <a:endParaRPr lang="en-US" sz="1150" dirty="0"/>
          </a:p>
        </p:txBody>
      </p:sp>
      <p:sp>
        <p:nvSpPr>
          <p:cNvPr id="22" name="Text 20"/>
          <p:cNvSpPr/>
          <p:nvPr/>
        </p:nvSpPr>
        <p:spPr>
          <a:xfrm>
            <a:off x="7360920" y="3410712"/>
            <a:ext cx="4206240" cy="457200"/>
          </a:xfrm>
          <a:prstGeom prst="rect">
            <a:avLst/>
          </a:prstGeom>
          <a:noFill/>
          <a:ln/>
        </p:spPr>
        <p:txBody>
          <a:bodyPr wrap="square" rtlCol="0" anchor="ctr"/>
          <a:lstStyle/>
          <a:p>
            <a:pPr marL="0" indent="0">
              <a:buNone/>
            </a:pPr>
            <a:r>
              <a:rPr lang="en-US" sz="1250" b="1" dirty="0">
                <a:solidFill>
                  <a:srgbClr val="2B2E33"/>
                </a:solidFill>
                <a:latin typeface="Cambria" pitchFamily="34" charset="0"/>
                <a:ea typeface="Cambria" pitchFamily="34" charset="-122"/>
                <a:cs typeface="Cambria" pitchFamily="34" charset="-120"/>
              </a:rPr>
              <a:t>Huang et al., Building and Environment (Systematic Review)</a:t>
            </a:r>
            <a:endParaRPr lang="en-US" sz="1250" dirty="0"/>
          </a:p>
        </p:txBody>
      </p:sp>
      <p:sp>
        <p:nvSpPr>
          <p:cNvPr id="23" name="Text 21"/>
          <p:cNvSpPr/>
          <p:nvPr/>
        </p:nvSpPr>
        <p:spPr>
          <a:xfrm>
            <a:off x="6583680" y="3931920"/>
            <a:ext cx="4983480" cy="868680"/>
          </a:xfrm>
          <a:prstGeom prst="rect">
            <a:avLst/>
          </a:prstGeom>
          <a:noFill/>
          <a:ln/>
        </p:spPr>
        <p:txBody>
          <a:bodyPr wrap="square" rtlCol="0" anchor="ctr"/>
          <a:lstStyle/>
          <a:p>
            <a:pPr marL="0" indent="0">
              <a:lnSpc>
                <a:spcPct val="115000"/>
              </a:lnSpc>
              <a:buNone/>
            </a:pPr>
            <a:r>
              <a:rPr lang="en-US" sz="1200" dirty="0">
                <a:solidFill>
                  <a:srgbClr val="6B7076"/>
                </a:solidFill>
                <a:latin typeface="Calibri" pitchFamily="34" charset="0"/>
                <a:ea typeface="Calibri" pitchFamily="34" charset="-122"/>
                <a:cs typeface="Calibri" pitchFamily="34" charset="-120"/>
              </a:rPr>
              <a:t>Reviewed 82 studies (2014–2024) on construction noise and found rising use of IoT/Bluetooth tracking, alongside a continuing gap in accessible reporting tools.</a:t>
            </a:r>
            <a:endParaRPr lang="en-US" sz="1200" dirty="0"/>
          </a:p>
        </p:txBody>
      </p:sp>
      <p:sp>
        <p:nvSpPr>
          <p:cNvPr id="24" name="Shape 22"/>
          <p:cNvSpPr/>
          <p:nvPr/>
        </p:nvSpPr>
        <p:spPr>
          <a:xfrm>
            <a:off x="548640" y="5166360"/>
            <a:ext cx="11247120" cy="777240"/>
          </a:xfrm>
          <a:prstGeom prst="roundRect">
            <a:avLst>
              <a:gd name="adj" fmla="val 11765"/>
            </a:avLst>
          </a:prstGeom>
          <a:solidFill>
            <a:srgbClr val="2B2E33"/>
          </a:solidFill>
          <a:ln/>
        </p:spPr>
      </p:sp>
      <p:sp>
        <p:nvSpPr>
          <p:cNvPr id="25" name="Shape 23"/>
          <p:cNvSpPr/>
          <p:nvPr/>
        </p:nvSpPr>
        <p:spPr>
          <a:xfrm>
            <a:off x="777240" y="5303520"/>
            <a:ext cx="457200" cy="457200"/>
          </a:xfrm>
          <a:prstGeom prst="ellipse">
            <a:avLst/>
          </a:prstGeom>
          <a:solidFill>
            <a:srgbClr val="EA6A12"/>
          </a:solidFill>
          <a:ln/>
        </p:spPr>
      </p:sp>
      <p:pic>
        <p:nvPicPr>
          <p:cNvPr id="26" name="Image 0" descr="icon_book.png"/>
          <p:cNvPicPr>
            <a:picLocks noChangeAspect="1"/>
          </p:cNvPicPr>
          <p:nvPr/>
        </p:nvPicPr>
        <p:blipFill>
          <a:blip r:embed="rId3"/>
          <a:stretch>
            <a:fillRect/>
          </a:stretch>
        </p:blipFill>
        <p:spPr>
          <a:xfrm>
            <a:off x="896112" y="5422392"/>
            <a:ext cx="219456" cy="219456"/>
          </a:xfrm>
          <a:prstGeom prst="rect">
            <a:avLst/>
          </a:prstGeom>
        </p:spPr>
      </p:pic>
      <p:sp>
        <p:nvSpPr>
          <p:cNvPr id="27" name="Text 24"/>
          <p:cNvSpPr/>
          <p:nvPr/>
        </p:nvSpPr>
        <p:spPr>
          <a:xfrm>
            <a:off x="1371600" y="5257800"/>
            <a:ext cx="2743200" cy="256032"/>
          </a:xfrm>
          <a:prstGeom prst="rect">
            <a:avLst/>
          </a:prstGeom>
          <a:noFill/>
          <a:ln/>
        </p:spPr>
        <p:txBody>
          <a:bodyPr wrap="square" rtlCol="0" anchor="ctr"/>
          <a:lstStyle/>
          <a:p>
            <a:pPr marL="0" indent="0">
              <a:buNone/>
            </a:pPr>
            <a:r>
              <a:rPr lang="en-US" sz="1250" b="1" dirty="0">
                <a:solidFill>
                  <a:srgbClr val="F5F3EE"/>
                </a:solidFill>
                <a:latin typeface="Cambria" pitchFamily="34" charset="0"/>
                <a:ea typeface="Cambria" pitchFamily="34" charset="-122"/>
                <a:cs typeface="Cambria" pitchFamily="34" charset="-120"/>
              </a:rPr>
              <a:t>Research Gap</a:t>
            </a:r>
            <a:endParaRPr lang="en-US" sz="1250" dirty="0"/>
          </a:p>
        </p:txBody>
      </p:sp>
      <p:sp>
        <p:nvSpPr>
          <p:cNvPr id="28" name="Text 25"/>
          <p:cNvSpPr/>
          <p:nvPr/>
        </p:nvSpPr>
        <p:spPr>
          <a:xfrm>
            <a:off x="1371600" y="5513832"/>
            <a:ext cx="10012680" cy="384048"/>
          </a:xfrm>
          <a:prstGeom prst="rect">
            <a:avLst/>
          </a:prstGeom>
          <a:noFill/>
          <a:ln/>
        </p:spPr>
        <p:txBody>
          <a:bodyPr wrap="square" rtlCol="0" anchor="ctr"/>
          <a:lstStyle/>
          <a:p>
            <a:pPr marL="0" indent="0">
              <a:lnSpc>
                <a:spcPct val="115000"/>
              </a:lnSpc>
              <a:buNone/>
            </a:pPr>
            <a:r>
              <a:rPr lang="en-US" sz="1150" dirty="0">
                <a:solidFill>
                  <a:srgbClr val="E4E6E8"/>
                </a:solidFill>
                <a:latin typeface="Calibri" pitchFamily="34" charset="0"/>
                <a:ea typeface="Calibri" pitchFamily="34" charset="-122"/>
                <a:cs typeface="Calibri" pitchFamily="34" charset="-120"/>
              </a:rPr>
              <a:t>Prior work largely tackles noise OR dust in isolation using dedicated IoT hardware. Few offer an accessible, software-only platform that combines both, checks readings against configured thresholds, and generates alerts and reports — the gap this project addresses.</a:t>
            </a:r>
            <a:endParaRPr lang="en-US" sz="1150" dirty="0"/>
          </a:p>
        </p:txBody>
      </p:sp>
      <p:sp>
        <p:nvSpPr>
          <p:cNvPr id="29" name="Text 26"/>
          <p:cNvSpPr/>
          <p:nvPr/>
        </p:nvSpPr>
        <p:spPr>
          <a:xfrm>
            <a:off x="457200" y="6492240"/>
            <a:ext cx="8686800" cy="274320"/>
          </a:xfrm>
          <a:prstGeom prst="rect">
            <a:avLst/>
          </a:prstGeom>
          <a:noFill/>
          <a:ln/>
        </p:spPr>
        <p:txBody>
          <a:bodyPr wrap="square" rtlCol="0" anchor="ctr"/>
          <a:lstStyle/>
          <a:p>
            <a:pPr marL="0" indent="0" algn="l">
              <a:buNone/>
            </a:pPr>
            <a:endParaRPr lang="en-US" sz="1100" dirty="0"/>
          </a:p>
        </p:txBody>
      </p:sp>
      <p:sp>
        <p:nvSpPr>
          <p:cNvPr id="30" name="Text 27"/>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05  —  METHODOLOGY</a:t>
            </a:r>
            <a:endParaRPr lang="en-US" sz="1200" dirty="0"/>
          </a:p>
        </p:txBody>
      </p:sp>
      <p:sp>
        <p:nvSpPr>
          <p:cNvPr id="3" name="Text 1"/>
          <p:cNvSpPr/>
          <p:nvPr/>
        </p:nvSpPr>
        <p:spPr>
          <a:xfrm>
            <a:off x="457200" y="594360"/>
            <a:ext cx="7315200" cy="548640"/>
          </a:xfrm>
          <a:prstGeom prst="rect">
            <a:avLst/>
          </a:prstGeom>
          <a:noFill/>
          <a:ln/>
        </p:spPr>
        <p:txBody>
          <a:bodyPr wrap="square" rtlCol="0" anchor="ctr"/>
          <a:lstStyle/>
          <a:p>
            <a:pPr marL="0" indent="0">
              <a:buNone/>
            </a:pPr>
            <a:r>
              <a:rPr lang="en-US" sz="2600" b="1" dirty="0">
                <a:solidFill>
                  <a:srgbClr val="2B2E33"/>
                </a:solidFill>
                <a:latin typeface="Cambria" pitchFamily="34" charset="0"/>
                <a:ea typeface="Cambria" pitchFamily="34" charset="-122"/>
                <a:cs typeface="Cambria" pitchFamily="34" charset="-120"/>
              </a:rPr>
              <a:t>How the System Works</a:t>
            </a:r>
            <a:endParaRPr lang="en-US" sz="2600" dirty="0"/>
          </a:p>
        </p:txBody>
      </p:sp>
      <p:sp>
        <p:nvSpPr>
          <p:cNvPr id="4" name="Shape 2"/>
          <p:cNvSpPr/>
          <p:nvPr/>
        </p:nvSpPr>
        <p:spPr>
          <a:xfrm>
            <a:off x="457200" y="1371600"/>
            <a:ext cx="3246120" cy="457200"/>
          </a:xfrm>
          <a:prstGeom prst="roundRect">
            <a:avLst>
              <a:gd name="adj" fmla="val 14000"/>
            </a:avLst>
          </a:prstGeom>
          <a:solidFill>
            <a:srgbClr val="2B2E33"/>
          </a:solidFill>
          <a:ln/>
        </p:spPr>
      </p:sp>
      <p:sp>
        <p:nvSpPr>
          <p:cNvPr id="5" name="Text 3"/>
          <p:cNvSpPr/>
          <p:nvPr/>
        </p:nvSpPr>
        <p:spPr>
          <a:xfrm>
            <a:off x="457200" y="1371600"/>
            <a:ext cx="3246120" cy="45720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SITE OFFICER</a:t>
            </a:r>
            <a:endParaRPr lang="en-US" sz="1150" dirty="0"/>
          </a:p>
        </p:txBody>
      </p:sp>
      <p:sp>
        <p:nvSpPr>
          <p:cNvPr id="6" name="Text 4"/>
          <p:cNvSpPr/>
          <p:nvPr/>
        </p:nvSpPr>
        <p:spPr>
          <a:xfrm>
            <a:off x="1943100" y="1828800"/>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457200" y="1970532"/>
            <a:ext cx="3246120" cy="457200"/>
          </a:xfrm>
          <a:prstGeom prst="roundRect">
            <a:avLst>
              <a:gd name="adj" fmla="val 14000"/>
            </a:avLst>
          </a:prstGeom>
          <a:solidFill>
            <a:srgbClr val="DDE1E4"/>
          </a:solidFill>
          <a:ln/>
        </p:spPr>
      </p:sp>
      <p:sp>
        <p:nvSpPr>
          <p:cNvPr id="8" name="Text 6"/>
          <p:cNvSpPr/>
          <p:nvPr/>
        </p:nvSpPr>
        <p:spPr>
          <a:xfrm>
            <a:off x="457200" y="1970532"/>
            <a:ext cx="3246120" cy="457200"/>
          </a:xfrm>
          <a:prstGeom prst="rect">
            <a:avLst/>
          </a:prstGeom>
          <a:noFill/>
          <a:ln/>
        </p:spPr>
        <p:txBody>
          <a:bodyPr wrap="square" rtlCol="0" anchor="ctr"/>
          <a:lstStyle/>
          <a:p>
            <a:pPr marL="0" indent="0" algn="ctr">
              <a:buNone/>
            </a:pPr>
            <a:r>
              <a:rPr lang="en-US" sz="1150" b="1" dirty="0">
                <a:solidFill>
                  <a:srgbClr val="1E2024"/>
                </a:solidFill>
                <a:latin typeface="Calibri" pitchFamily="34" charset="0"/>
                <a:ea typeface="Calibri" pitchFamily="34" charset="-122"/>
                <a:cs typeface="Calibri" pitchFamily="34" charset="-120"/>
              </a:rPr>
              <a:t>Enter / Upload Data</a:t>
            </a:r>
            <a:endParaRPr lang="en-US" sz="1150" dirty="0"/>
          </a:p>
        </p:txBody>
      </p:sp>
      <p:sp>
        <p:nvSpPr>
          <p:cNvPr id="9" name="Text 7"/>
          <p:cNvSpPr/>
          <p:nvPr/>
        </p:nvSpPr>
        <p:spPr>
          <a:xfrm>
            <a:off x="1943100" y="2427732"/>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457200" y="2569464"/>
            <a:ext cx="3246120" cy="457200"/>
          </a:xfrm>
          <a:prstGeom prst="roundRect">
            <a:avLst>
              <a:gd name="adj" fmla="val 14000"/>
            </a:avLst>
          </a:prstGeom>
          <a:solidFill>
            <a:srgbClr val="EA6A12"/>
          </a:solidFill>
          <a:ln/>
        </p:spPr>
      </p:sp>
      <p:sp>
        <p:nvSpPr>
          <p:cNvPr id="11" name="Text 9"/>
          <p:cNvSpPr/>
          <p:nvPr/>
        </p:nvSpPr>
        <p:spPr>
          <a:xfrm>
            <a:off x="457200" y="2569464"/>
            <a:ext cx="3246120" cy="45720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DATABASE</a:t>
            </a:r>
            <a:endParaRPr lang="en-US" sz="1150" dirty="0"/>
          </a:p>
        </p:txBody>
      </p:sp>
      <p:sp>
        <p:nvSpPr>
          <p:cNvPr id="12" name="Text 10"/>
          <p:cNvSpPr/>
          <p:nvPr/>
        </p:nvSpPr>
        <p:spPr>
          <a:xfrm>
            <a:off x="1943100" y="3026664"/>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457200" y="3168396"/>
            <a:ext cx="3246120" cy="457200"/>
          </a:xfrm>
          <a:prstGeom prst="roundRect">
            <a:avLst>
              <a:gd name="adj" fmla="val 14000"/>
            </a:avLst>
          </a:prstGeom>
          <a:solidFill>
            <a:srgbClr val="DDE1E4"/>
          </a:solidFill>
          <a:ln/>
        </p:spPr>
      </p:sp>
      <p:sp>
        <p:nvSpPr>
          <p:cNvPr id="14" name="Text 12"/>
          <p:cNvSpPr/>
          <p:nvPr/>
        </p:nvSpPr>
        <p:spPr>
          <a:xfrm>
            <a:off x="457200" y="3168396"/>
            <a:ext cx="3246120" cy="457200"/>
          </a:xfrm>
          <a:prstGeom prst="rect">
            <a:avLst/>
          </a:prstGeom>
          <a:noFill/>
          <a:ln/>
        </p:spPr>
        <p:txBody>
          <a:bodyPr wrap="square" rtlCol="0" anchor="ctr"/>
          <a:lstStyle/>
          <a:p>
            <a:pPr marL="0" indent="0" algn="ctr">
              <a:buNone/>
            </a:pPr>
            <a:r>
              <a:rPr lang="en-US" sz="1150" b="1" dirty="0">
                <a:solidFill>
                  <a:srgbClr val="1E2024"/>
                </a:solidFill>
                <a:latin typeface="Calibri" pitchFamily="34" charset="0"/>
                <a:ea typeface="Calibri" pitchFamily="34" charset="-122"/>
                <a:cs typeface="Calibri" pitchFamily="34" charset="-120"/>
              </a:rPr>
              <a:t>Data Analysis</a:t>
            </a:r>
            <a:endParaRPr lang="en-US" sz="1150" dirty="0"/>
          </a:p>
        </p:txBody>
      </p:sp>
      <p:sp>
        <p:nvSpPr>
          <p:cNvPr id="15" name="Text 13"/>
          <p:cNvSpPr/>
          <p:nvPr/>
        </p:nvSpPr>
        <p:spPr>
          <a:xfrm>
            <a:off x="1943100" y="3625596"/>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457200" y="3767328"/>
            <a:ext cx="1536192" cy="457200"/>
          </a:xfrm>
          <a:prstGeom prst="roundRect">
            <a:avLst>
              <a:gd name="adj" fmla="val 14000"/>
            </a:avLst>
          </a:prstGeom>
          <a:solidFill>
            <a:srgbClr val="DDE1E4"/>
          </a:solidFill>
          <a:ln/>
        </p:spPr>
      </p:sp>
      <p:sp>
        <p:nvSpPr>
          <p:cNvPr id="17" name="Text 15"/>
          <p:cNvSpPr/>
          <p:nvPr/>
        </p:nvSpPr>
        <p:spPr>
          <a:xfrm>
            <a:off x="457200" y="3767328"/>
            <a:ext cx="1536192" cy="457200"/>
          </a:xfrm>
          <a:prstGeom prst="rect">
            <a:avLst/>
          </a:prstGeom>
          <a:noFill/>
          <a:ln/>
        </p:spPr>
        <p:txBody>
          <a:bodyPr wrap="square" rtlCol="0" anchor="ctr"/>
          <a:lstStyle/>
          <a:p>
            <a:pPr marL="0" indent="0" algn="ctr">
              <a:buNone/>
            </a:pPr>
            <a:r>
              <a:rPr lang="en-US" sz="1150" b="1" dirty="0">
                <a:solidFill>
                  <a:srgbClr val="1E2024"/>
                </a:solidFill>
                <a:latin typeface="Calibri" pitchFamily="34" charset="0"/>
                <a:ea typeface="Calibri" pitchFamily="34" charset="-122"/>
                <a:cs typeface="Calibri" pitchFamily="34" charset="-120"/>
              </a:rPr>
              <a:t>Noise Analysis</a:t>
            </a:r>
            <a:endParaRPr lang="en-US" sz="1150" dirty="0"/>
          </a:p>
        </p:txBody>
      </p:sp>
      <p:sp>
        <p:nvSpPr>
          <p:cNvPr id="18" name="Shape 16"/>
          <p:cNvSpPr/>
          <p:nvPr/>
        </p:nvSpPr>
        <p:spPr>
          <a:xfrm>
            <a:off x="2167128" y="3767328"/>
            <a:ext cx="1536192" cy="457200"/>
          </a:xfrm>
          <a:prstGeom prst="roundRect">
            <a:avLst>
              <a:gd name="adj" fmla="val 14000"/>
            </a:avLst>
          </a:prstGeom>
          <a:solidFill>
            <a:srgbClr val="DDE1E4"/>
          </a:solidFill>
          <a:ln/>
        </p:spPr>
      </p:sp>
      <p:sp>
        <p:nvSpPr>
          <p:cNvPr id="19" name="Text 17"/>
          <p:cNvSpPr/>
          <p:nvPr/>
        </p:nvSpPr>
        <p:spPr>
          <a:xfrm>
            <a:off x="2167128" y="3767328"/>
            <a:ext cx="1536192" cy="457200"/>
          </a:xfrm>
          <a:prstGeom prst="rect">
            <a:avLst/>
          </a:prstGeom>
          <a:noFill/>
          <a:ln/>
        </p:spPr>
        <p:txBody>
          <a:bodyPr wrap="square" rtlCol="0" anchor="ctr"/>
          <a:lstStyle/>
          <a:p>
            <a:pPr marL="0" indent="0" algn="ctr">
              <a:buNone/>
            </a:pPr>
            <a:r>
              <a:rPr lang="en-US" sz="1150" b="1" dirty="0">
                <a:solidFill>
                  <a:srgbClr val="1E2024"/>
                </a:solidFill>
                <a:latin typeface="Calibri" pitchFamily="34" charset="0"/>
                <a:ea typeface="Calibri" pitchFamily="34" charset="-122"/>
                <a:cs typeface="Calibri" pitchFamily="34" charset="-120"/>
              </a:rPr>
              <a:t>Dust Analysis</a:t>
            </a:r>
            <a:endParaRPr lang="en-US" sz="1150" dirty="0"/>
          </a:p>
        </p:txBody>
      </p:sp>
      <p:sp>
        <p:nvSpPr>
          <p:cNvPr id="20" name="Text 18"/>
          <p:cNvSpPr/>
          <p:nvPr/>
        </p:nvSpPr>
        <p:spPr>
          <a:xfrm>
            <a:off x="1943100" y="4224528"/>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457200" y="4366260"/>
            <a:ext cx="3246120" cy="457200"/>
          </a:xfrm>
          <a:prstGeom prst="roundRect">
            <a:avLst>
              <a:gd name="adj" fmla="val 14000"/>
            </a:avLst>
          </a:prstGeom>
          <a:solidFill>
            <a:srgbClr val="2B2E33"/>
          </a:solidFill>
          <a:ln/>
        </p:spPr>
      </p:sp>
      <p:sp>
        <p:nvSpPr>
          <p:cNvPr id="22" name="Text 20"/>
          <p:cNvSpPr/>
          <p:nvPr/>
        </p:nvSpPr>
        <p:spPr>
          <a:xfrm>
            <a:off x="457200" y="4366260"/>
            <a:ext cx="3246120" cy="45720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Compliance Check</a:t>
            </a:r>
            <a:endParaRPr lang="en-US" sz="1150" dirty="0"/>
          </a:p>
        </p:txBody>
      </p:sp>
      <p:sp>
        <p:nvSpPr>
          <p:cNvPr id="23" name="Text 21"/>
          <p:cNvSpPr/>
          <p:nvPr/>
        </p:nvSpPr>
        <p:spPr>
          <a:xfrm>
            <a:off x="1943100" y="4823460"/>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457200" y="4965192"/>
            <a:ext cx="3246120" cy="457200"/>
          </a:xfrm>
          <a:prstGeom prst="roundRect">
            <a:avLst>
              <a:gd name="adj" fmla="val 14000"/>
            </a:avLst>
          </a:prstGeom>
          <a:solidFill>
            <a:srgbClr val="EA6A12"/>
          </a:solidFill>
          <a:ln/>
        </p:spPr>
      </p:sp>
      <p:sp>
        <p:nvSpPr>
          <p:cNvPr id="25" name="Text 23"/>
          <p:cNvSpPr/>
          <p:nvPr/>
        </p:nvSpPr>
        <p:spPr>
          <a:xfrm>
            <a:off x="457200" y="4965192"/>
            <a:ext cx="3246120" cy="457200"/>
          </a:xfrm>
          <a:prstGeom prst="rect">
            <a:avLst/>
          </a:prstGeom>
          <a:noFill/>
          <a:ln/>
        </p:spPr>
        <p:txBody>
          <a:bodyPr wrap="square" rtlCol="0" anchor="ctr"/>
          <a:lstStyle/>
          <a:p>
            <a:pPr marL="0" indent="0" algn="ctr">
              <a:buNone/>
            </a:pPr>
            <a:r>
              <a:rPr lang="en-US" sz="1150" b="1" dirty="0">
                <a:solidFill>
                  <a:srgbClr val="F5F3EE"/>
                </a:solidFill>
                <a:latin typeface="Calibri" pitchFamily="34" charset="0"/>
                <a:ea typeface="Calibri" pitchFamily="34" charset="-122"/>
                <a:cs typeface="Calibri" pitchFamily="34" charset="-120"/>
              </a:rPr>
              <a:t>Alert / Status</a:t>
            </a:r>
            <a:endParaRPr lang="en-US" sz="1150" dirty="0"/>
          </a:p>
        </p:txBody>
      </p:sp>
      <p:sp>
        <p:nvSpPr>
          <p:cNvPr id="26" name="Text 24"/>
          <p:cNvSpPr/>
          <p:nvPr/>
        </p:nvSpPr>
        <p:spPr>
          <a:xfrm>
            <a:off x="1943100" y="5422392"/>
            <a:ext cx="274320" cy="141732"/>
          </a:xfrm>
          <a:prstGeom prst="rect">
            <a:avLst/>
          </a:prstGeom>
          <a:noFill/>
          <a:ln/>
        </p:spPr>
        <p:txBody>
          <a:bodyPr wrap="square" rtlCol="0" anchor="ctr"/>
          <a:lstStyle/>
          <a:p>
            <a:pPr marL="0" indent="0" algn="ctr">
              <a:buNone/>
            </a:pPr>
            <a:r>
              <a:rPr lang="en-US" sz="1300" b="1" dirty="0">
                <a:solidFill>
                  <a:srgbClr val="6B7076"/>
                </a:solidFill>
                <a:latin typeface="Calibri" pitchFamily="34" charset="0"/>
                <a:ea typeface="Calibri" pitchFamily="34" charset="-122"/>
                <a:cs typeface="Calibri" pitchFamily="34" charset="-120"/>
              </a:rPr>
              <a:t>↓</a:t>
            </a:r>
            <a:endParaRPr lang="en-US" sz="1300" dirty="0"/>
          </a:p>
        </p:txBody>
      </p:sp>
      <p:sp>
        <p:nvSpPr>
          <p:cNvPr id="27" name="Shape 25"/>
          <p:cNvSpPr/>
          <p:nvPr/>
        </p:nvSpPr>
        <p:spPr>
          <a:xfrm>
            <a:off x="457200" y="5564124"/>
            <a:ext cx="3246120" cy="457200"/>
          </a:xfrm>
          <a:prstGeom prst="roundRect">
            <a:avLst>
              <a:gd name="adj" fmla="val 14000"/>
            </a:avLst>
          </a:prstGeom>
          <a:solidFill>
            <a:srgbClr val="DDE1E4"/>
          </a:solidFill>
          <a:ln/>
        </p:spPr>
      </p:sp>
      <p:sp>
        <p:nvSpPr>
          <p:cNvPr id="28" name="Text 26"/>
          <p:cNvSpPr/>
          <p:nvPr/>
        </p:nvSpPr>
        <p:spPr>
          <a:xfrm>
            <a:off x="457200" y="5564124"/>
            <a:ext cx="3246120" cy="457200"/>
          </a:xfrm>
          <a:prstGeom prst="rect">
            <a:avLst/>
          </a:prstGeom>
          <a:noFill/>
          <a:ln/>
        </p:spPr>
        <p:txBody>
          <a:bodyPr wrap="square" rtlCol="0" anchor="ctr"/>
          <a:lstStyle/>
          <a:p>
            <a:pPr marL="0" indent="0" algn="ctr">
              <a:buNone/>
            </a:pPr>
            <a:r>
              <a:rPr lang="en-US" sz="1150" b="1" dirty="0">
                <a:solidFill>
                  <a:srgbClr val="1E2024"/>
                </a:solidFill>
                <a:latin typeface="Calibri" pitchFamily="34" charset="0"/>
                <a:ea typeface="Calibri" pitchFamily="34" charset="-122"/>
                <a:cs typeface="Calibri" pitchFamily="34" charset="-120"/>
              </a:rPr>
              <a:t>Dashboard → Report Generation</a:t>
            </a:r>
            <a:endParaRPr lang="en-US" sz="1150" dirty="0"/>
          </a:p>
        </p:txBody>
      </p:sp>
      <p:sp>
        <p:nvSpPr>
          <p:cNvPr id="29" name="Shape 27"/>
          <p:cNvSpPr/>
          <p:nvPr/>
        </p:nvSpPr>
        <p:spPr>
          <a:xfrm>
            <a:off x="4160520" y="1371600"/>
            <a:ext cx="7571232" cy="2148840"/>
          </a:xfrm>
          <a:prstGeom prst="roundRect">
            <a:avLst>
              <a:gd name="adj" fmla="val 5106"/>
            </a:avLst>
          </a:prstGeom>
          <a:solidFill>
            <a:srgbClr val="FFFFFF"/>
          </a:solidFill>
          <a:ln w="12700">
            <a:solidFill>
              <a:srgbClr val="E4E1DA"/>
            </a:solidFill>
            <a:prstDash val="solid"/>
          </a:ln>
          <a:effectLst>
            <a:outerShdw blurRad="76200" dist="25400" dir="5400000" algn="bl" rotWithShape="0">
              <a:srgbClr val="000000">
                <a:alpha val="10000"/>
              </a:srgbClr>
            </a:outerShdw>
          </a:effectLst>
        </p:spPr>
      </p:sp>
      <p:sp>
        <p:nvSpPr>
          <p:cNvPr id="30" name="Text 28"/>
          <p:cNvSpPr/>
          <p:nvPr/>
        </p:nvSpPr>
        <p:spPr>
          <a:xfrm>
            <a:off x="4480560" y="1536192"/>
            <a:ext cx="4572000" cy="274320"/>
          </a:xfrm>
          <a:prstGeom prst="rect">
            <a:avLst/>
          </a:prstGeom>
          <a:noFill/>
          <a:ln/>
        </p:spPr>
        <p:txBody>
          <a:bodyPr wrap="square" rtlCol="0" anchor="ctr"/>
          <a:lstStyle/>
          <a:p>
            <a:pPr marL="0" indent="0">
              <a:buNone/>
            </a:pPr>
            <a:r>
              <a:rPr lang="en-US" sz="1100" b="1" kern="0" spc="200" dirty="0">
                <a:solidFill>
                  <a:srgbClr val="EA6A12"/>
                </a:solidFill>
                <a:latin typeface="Calibri" pitchFamily="34" charset="0"/>
                <a:ea typeface="Calibri" pitchFamily="34" charset="-122"/>
                <a:cs typeface="Calibri" pitchFamily="34" charset="-120"/>
              </a:rPr>
              <a:t>WORKED EXAMPLE</a:t>
            </a:r>
            <a:endParaRPr lang="en-US" sz="1100" dirty="0"/>
          </a:p>
        </p:txBody>
      </p:sp>
      <p:sp>
        <p:nvSpPr>
          <p:cNvPr id="31" name="Text 29"/>
          <p:cNvSpPr/>
          <p:nvPr/>
        </p:nvSpPr>
        <p:spPr>
          <a:xfrm>
            <a:off x="4480560" y="1828800"/>
            <a:ext cx="4572000" cy="27432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User enters:</a:t>
            </a:r>
            <a:endParaRPr lang="en-US" sz="1250" dirty="0"/>
          </a:p>
        </p:txBody>
      </p:sp>
      <p:sp>
        <p:nvSpPr>
          <p:cNvPr id="32" name="Text 30"/>
          <p:cNvSpPr/>
          <p:nvPr/>
        </p:nvSpPr>
        <p:spPr>
          <a:xfrm>
            <a:off x="4480560" y="2084832"/>
            <a:ext cx="4572000" cy="502920"/>
          </a:xfrm>
          <a:prstGeom prst="rect">
            <a:avLst/>
          </a:prstGeom>
          <a:noFill/>
          <a:ln/>
        </p:spPr>
        <p:txBody>
          <a:bodyPr wrap="square" rtlCol="0" anchor="ctr"/>
          <a:lstStyle/>
          <a:p>
            <a:pPr marL="0" indent="0">
              <a:buNone/>
            </a:pPr>
            <a:r>
              <a:rPr lang="en-US" sz="2600" b="1" dirty="0">
                <a:solidFill>
                  <a:srgbClr val="2B2E33"/>
                </a:solidFill>
                <a:latin typeface="Cambria" pitchFamily="34" charset="0"/>
                <a:ea typeface="Cambria" pitchFamily="34" charset="-122"/>
                <a:cs typeface="Cambria" pitchFamily="34" charset="-120"/>
              </a:rPr>
              <a:t>Noise = 78 dB(A)</a:t>
            </a:r>
            <a:endParaRPr lang="en-US" sz="2600" dirty="0"/>
          </a:p>
        </p:txBody>
      </p:sp>
      <p:sp>
        <p:nvSpPr>
          <p:cNvPr id="33" name="Text 31"/>
          <p:cNvSpPr/>
          <p:nvPr/>
        </p:nvSpPr>
        <p:spPr>
          <a:xfrm>
            <a:off x="4480560" y="2615184"/>
            <a:ext cx="4023360" cy="777240"/>
          </a:xfrm>
          <a:prstGeom prst="rect">
            <a:avLst/>
          </a:prstGeom>
          <a:noFill/>
          <a:ln/>
        </p:spPr>
        <p:txBody>
          <a:bodyPr wrap="square" rtlCol="0" anchor="ctr"/>
          <a:lstStyle/>
          <a:p>
            <a:pPr marL="0" indent="0">
              <a:lnSpc>
                <a:spcPct val="115000"/>
              </a:lnSpc>
              <a:buNone/>
            </a:pPr>
            <a:r>
              <a:rPr lang="en-US" sz="1150" dirty="0">
                <a:solidFill>
                  <a:srgbClr val="1E2024"/>
                </a:solidFill>
                <a:latin typeface="Calibri" pitchFamily="34" charset="0"/>
                <a:ea typeface="Calibri" pitchFamily="34" charset="-122"/>
                <a:cs typeface="Calibri" pitchFamily="34" charset="-120"/>
              </a:rPr>
              <a:t>The system checks the relevant configured limit for the site's area / category and monitoring period.</a:t>
            </a:r>
            <a:endParaRPr lang="en-US" sz="1150" dirty="0"/>
          </a:p>
        </p:txBody>
      </p:sp>
      <p:sp>
        <p:nvSpPr>
          <p:cNvPr id="34" name="Shape 32"/>
          <p:cNvSpPr/>
          <p:nvPr/>
        </p:nvSpPr>
        <p:spPr>
          <a:xfrm>
            <a:off x="8732520" y="1783080"/>
            <a:ext cx="2743200" cy="1508760"/>
          </a:xfrm>
          <a:prstGeom prst="roundRect">
            <a:avLst>
              <a:gd name="adj" fmla="val 6061"/>
            </a:avLst>
          </a:prstGeom>
          <a:solidFill>
            <a:srgbClr val="FBE7E3"/>
          </a:solidFill>
          <a:ln w="12700">
            <a:solidFill>
              <a:srgbClr val="F0C4BA"/>
            </a:solidFill>
            <a:prstDash val="solid"/>
          </a:ln>
        </p:spPr>
      </p:sp>
      <p:sp>
        <p:nvSpPr>
          <p:cNvPr id="35" name="Shape 33"/>
          <p:cNvSpPr/>
          <p:nvPr/>
        </p:nvSpPr>
        <p:spPr>
          <a:xfrm>
            <a:off x="8988552" y="1947672"/>
            <a:ext cx="438912" cy="438912"/>
          </a:xfrm>
          <a:prstGeom prst="ellipse">
            <a:avLst/>
          </a:prstGeom>
          <a:solidFill>
            <a:srgbClr val="C0392B"/>
          </a:solidFill>
          <a:ln/>
        </p:spPr>
      </p:sp>
      <p:pic>
        <p:nvPicPr>
          <p:cNvPr id="36" name="Image 0" descr="icon_alert.png"/>
          <p:cNvPicPr>
            <a:picLocks noChangeAspect="1"/>
          </p:cNvPicPr>
          <p:nvPr/>
        </p:nvPicPr>
        <p:blipFill>
          <a:blip r:embed="rId3"/>
          <a:stretch>
            <a:fillRect/>
          </a:stretch>
        </p:blipFill>
        <p:spPr>
          <a:xfrm>
            <a:off x="9043416" y="2002536"/>
            <a:ext cx="329184" cy="329184"/>
          </a:xfrm>
          <a:prstGeom prst="rect">
            <a:avLst/>
          </a:prstGeom>
        </p:spPr>
      </p:pic>
      <p:sp>
        <p:nvSpPr>
          <p:cNvPr id="37" name="Text 34"/>
          <p:cNvSpPr/>
          <p:nvPr/>
        </p:nvSpPr>
        <p:spPr>
          <a:xfrm>
            <a:off x="8988552" y="2450592"/>
            <a:ext cx="2286000" cy="320040"/>
          </a:xfrm>
          <a:prstGeom prst="rect">
            <a:avLst/>
          </a:prstGeom>
          <a:noFill/>
          <a:ln/>
        </p:spPr>
        <p:txBody>
          <a:bodyPr wrap="square" rtlCol="0" anchor="ctr"/>
          <a:lstStyle/>
          <a:p>
            <a:pPr marL="0" indent="0">
              <a:buNone/>
            </a:pPr>
            <a:r>
              <a:rPr lang="en-US" sz="1350" b="1" dirty="0">
                <a:solidFill>
                  <a:srgbClr val="C0392B"/>
                </a:solidFill>
                <a:latin typeface="Cambria" pitchFamily="34" charset="0"/>
                <a:ea typeface="Cambria" pitchFamily="34" charset="-122"/>
                <a:cs typeface="Cambria" pitchFamily="34" charset="-120"/>
              </a:rPr>
              <a:t>Threshold Exceeded</a:t>
            </a:r>
            <a:endParaRPr lang="en-US" sz="1350" dirty="0"/>
          </a:p>
        </p:txBody>
      </p:sp>
      <p:sp>
        <p:nvSpPr>
          <p:cNvPr id="38" name="Text 35"/>
          <p:cNvSpPr/>
          <p:nvPr/>
        </p:nvSpPr>
        <p:spPr>
          <a:xfrm>
            <a:off x="8988552" y="2761488"/>
            <a:ext cx="2286000" cy="365760"/>
          </a:xfrm>
          <a:prstGeom prst="rect">
            <a:avLst/>
          </a:prstGeom>
          <a:noFill/>
          <a:ln/>
        </p:spPr>
        <p:txBody>
          <a:bodyPr wrap="square" rtlCol="0" anchor="ctr"/>
          <a:lstStyle/>
          <a:p>
            <a:pPr marL="0" indent="0">
              <a:buNone/>
            </a:pPr>
            <a:r>
              <a:rPr lang="en-US" sz="1100" i="1" dirty="0">
                <a:solidFill>
                  <a:srgbClr val="1E2024"/>
                </a:solidFill>
                <a:latin typeface="Calibri" pitchFamily="34" charset="0"/>
                <a:ea typeface="Calibri" pitchFamily="34" charset="-122"/>
                <a:cs typeface="Calibri" pitchFamily="34" charset="-120"/>
              </a:rPr>
              <a:t>Review required</a:t>
            </a:r>
            <a:endParaRPr lang="en-US" sz="1100" dirty="0"/>
          </a:p>
        </p:txBody>
      </p:sp>
      <p:sp>
        <p:nvSpPr>
          <p:cNvPr id="39" name="Shape 36"/>
          <p:cNvSpPr/>
          <p:nvPr/>
        </p:nvSpPr>
        <p:spPr>
          <a:xfrm>
            <a:off x="4160520" y="3703320"/>
            <a:ext cx="7571232" cy="2148840"/>
          </a:xfrm>
          <a:prstGeom prst="roundRect">
            <a:avLst>
              <a:gd name="adj" fmla="val 5106"/>
            </a:avLst>
          </a:prstGeom>
          <a:solidFill>
            <a:srgbClr val="2B2E33"/>
          </a:solidFill>
          <a:ln/>
        </p:spPr>
      </p:sp>
      <p:sp>
        <p:nvSpPr>
          <p:cNvPr id="40" name="Text 37"/>
          <p:cNvSpPr/>
          <p:nvPr/>
        </p:nvSpPr>
        <p:spPr>
          <a:xfrm>
            <a:off x="4480560" y="3886200"/>
            <a:ext cx="5486400" cy="274320"/>
          </a:xfrm>
          <a:prstGeom prst="rect">
            <a:avLst/>
          </a:prstGeom>
          <a:noFill/>
          <a:ln/>
        </p:spPr>
        <p:txBody>
          <a:bodyPr wrap="square" rtlCol="0" anchor="ctr"/>
          <a:lstStyle/>
          <a:p>
            <a:pPr marL="0" indent="0">
              <a:buNone/>
            </a:pPr>
            <a:r>
              <a:rPr lang="en-US" sz="1100" b="1" kern="0" spc="200" dirty="0">
                <a:solidFill>
                  <a:srgbClr val="EA6A12"/>
                </a:solidFill>
                <a:latin typeface="Calibri" pitchFamily="34" charset="0"/>
                <a:ea typeface="Calibri" pitchFamily="34" charset="-122"/>
                <a:cs typeface="Calibri" pitchFamily="34" charset="-120"/>
              </a:rPr>
              <a:t>REFERENCE STANDARD</a:t>
            </a:r>
            <a:endParaRPr lang="en-US" sz="1100" dirty="0"/>
          </a:p>
        </p:txBody>
      </p:sp>
      <p:sp>
        <p:nvSpPr>
          <p:cNvPr id="41" name="Text 38"/>
          <p:cNvSpPr/>
          <p:nvPr/>
        </p:nvSpPr>
        <p:spPr>
          <a:xfrm>
            <a:off x="4480560" y="4206240"/>
            <a:ext cx="6949440" cy="1005840"/>
          </a:xfrm>
          <a:prstGeom prst="rect">
            <a:avLst/>
          </a:prstGeom>
          <a:noFill/>
          <a:ln/>
        </p:spPr>
        <p:txBody>
          <a:bodyPr wrap="square" rtlCol="0" anchor="ctr"/>
          <a:lstStyle/>
          <a:p>
            <a:pPr marL="0" indent="0">
              <a:lnSpc>
                <a:spcPct val="125000"/>
              </a:lnSpc>
              <a:buNone/>
            </a:pPr>
            <a:r>
              <a:rPr lang="en-US" sz="1300" dirty="0">
                <a:solidFill>
                  <a:srgbClr val="E4E6E8"/>
                </a:solidFill>
                <a:latin typeface="Calibri" pitchFamily="34" charset="0"/>
                <a:ea typeface="Calibri" pitchFamily="34" charset="-122"/>
                <a:cs typeface="Calibri" pitchFamily="34" charset="-120"/>
              </a:rPr>
              <a:t>Under India's Noise Pollution Rules, residential-area ambient limits are 55 dB(A) Leq during daytime and 45 dB(A) Leq at night. Industrial, commercial and silence-zone limits differ, and are configured per zone in the system.</a:t>
            </a:r>
            <a:endParaRPr lang="en-US" sz="1300" dirty="0"/>
          </a:p>
        </p:txBody>
      </p:sp>
      <p:sp>
        <p:nvSpPr>
          <p:cNvPr id="42" name="Shape 39"/>
          <p:cNvSpPr/>
          <p:nvPr/>
        </p:nvSpPr>
        <p:spPr>
          <a:xfrm>
            <a:off x="4480560" y="5257800"/>
            <a:ext cx="2331720" cy="502920"/>
          </a:xfrm>
          <a:prstGeom prst="roundRect">
            <a:avLst>
              <a:gd name="adj" fmla="val 12727"/>
            </a:avLst>
          </a:prstGeom>
          <a:solidFill>
            <a:srgbClr val="3C4046"/>
          </a:solidFill>
          <a:ln/>
        </p:spPr>
      </p:sp>
      <p:sp>
        <p:nvSpPr>
          <p:cNvPr id="43" name="Text 40"/>
          <p:cNvSpPr/>
          <p:nvPr/>
        </p:nvSpPr>
        <p:spPr>
          <a:xfrm>
            <a:off x="4617720" y="5257800"/>
            <a:ext cx="1005840" cy="502920"/>
          </a:xfrm>
          <a:prstGeom prst="rect">
            <a:avLst/>
          </a:prstGeom>
          <a:noFill/>
          <a:ln/>
        </p:spPr>
        <p:txBody>
          <a:bodyPr wrap="square" rtlCol="0" anchor="ctr"/>
          <a:lstStyle/>
          <a:p>
            <a:pPr marL="0" indent="0">
              <a:buNone/>
            </a:pPr>
            <a:r>
              <a:rPr lang="en-US" sz="1500" b="1" dirty="0">
                <a:solidFill>
                  <a:srgbClr val="EA6A12"/>
                </a:solidFill>
                <a:latin typeface="Cambria" pitchFamily="34" charset="0"/>
                <a:ea typeface="Cambria" pitchFamily="34" charset="-122"/>
                <a:cs typeface="Cambria" pitchFamily="34" charset="-120"/>
              </a:rPr>
              <a:t>55 dB(A)</a:t>
            </a:r>
            <a:endParaRPr lang="en-US" sz="1500" dirty="0"/>
          </a:p>
        </p:txBody>
      </p:sp>
      <p:sp>
        <p:nvSpPr>
          <p:cNvPr id="44" name="Text 41"/>
          <p:cNvSpPr/>
          <p:nvPr/>
        </p:nvSpPr>
        <p:spPr>
          <a:xfrm>
            <a:off x="5532120" y="5257800"/>
            <a:ext cx="1280160" cy="502920"/>
          </a:xfrm>
          <a:prstGeom prst="rect">
            <a:avLst/>
          </a:prstGeom>
          <a:noFill/>
          <a:ln/>
        </p:spPr>
        <p:txBody>
          <a:bodyPr wrap="square" rtlCol="0" anchor="ctr"/>
          <a:lstStyle/>
          <a:p>
            <a:pPr marL="0" indent="0">
              <a:buNone/>
            </a:pPr>
            <a:r>
              <a:rPr lang="en-US" sz="1100" dirty="0">
                <a:solidFill>
                  <a:srgbClr val="D7D9DB"/>
                </a:solidFill>
                <a:latin typeface="Calibri" pitchFamily="34" charset="0"/>
                <a:ea typeface="Calibri" pitchFamily="34" charset="-122"/>
                <a:cs typeface="Calibri" pitchFamily="34" charset="-120"/>
              </a:rPr>
              <a:t>Residential · Day</a:t>
            </a:r>
            <a:endParaRPr lang="en-US" sz="1100" dirty="0"/>
          </a:p>
        </p:txBody>
      </p:sp>
      <p:sp>
        <p:nvSpPr>
          <p:cNvPr id="45" name="Shape 42"/>
          <p:cNvSpPr/>
          <p:nvPr/>
        </p:nvSpPr>
        <p:spPr>
          <a:xfrm>
            <a:off x="6995160" y="5257800"/>
            <a:ext cx="2331720" cy="502920"/>
          </a:xfrm>
          <a:prstGeom prst="roundRect">
            <a:avLst>
              <a:gd name="adj" fmla="val 12727"/>
            </a:avLst>
          </a:prstGeom>
          <a:solidFill>
            <a:srgbClr val="3C4046"/>
          </a:solidFill>
          <a:ln/>
        </p:spPr>
      </p:sp>
      <p:sp>
        <p:nvSpPr>
          <p:cNvPr id="46" name="Text 43"/>
          <p:cNvSpPr/>
          <p:nvPr/>
        </p:nvSpPr>
        <p:spPr>
          <a:xfrm>
            <a:off x="7132320" y="5257800"/>
            <a:ext cx="1005840" cy="502920"/>
          </a:xfrm>
          <a:prstGeom prst="rect">
            <a:avLst/>
          </a:prstGeom>
          <a:noFill/>
          <a:ln/>
        </p:spPr>
        <p:txBody>
          <a:bodyPr wrap="square" rtlCol="0" anchor="ctr"/>
          <a:lstStyle/>
          <a:p>
            <a:pPr marL="0" indent="0">
              <a:buNone/>
            </a:pPr>
            <a:r>
              <a:rPr lang="en-US" sz="1500" b="1" dirty="0">
                <a:solidFill>
                  <a:srgbClr val="EA6A12"/>
                </a:solidFill>
                <a:latin typeface="Cambria" pitchFamily="34" charset="0"/>
                <a:ea typeface="Cambria" pitchFamily="34" charset="-122"/>
                <a:cs typeface="Cambria" pitchFamily="34" charset="-120"/>
              </a:rPr>
              <a:t>45 dB(A)</a:t>
            </a:r>
            <a:endParaRPr lang="en-US" sz="1500" dirty="0"/>
          </a:p>
        </p:txBody>
      </p:sp>
      <p:sp>
        <p:nvSpPr>
          <p:cNvPr id="47" name="Text 44"/>
          <p:cNvSpPr/>
          <p:nvPr/>
        </p:nvSpPr>
        <p:spPr>
          <a:xfrm>
            <a:off x="8046720" y="5257800"/>
            <a:ext cx="1280160" cy="502920"/>
          </a:xfrm>
          <a:prstGeom prst="rect">
            <a:avLst/>
          </a:prstGeom>
          <a:noFill/>
          <a:ln/>
        </p:spPr>
        <p:txBody>
          <a:bodyPr wrap="square" rtlCol="0" anchor="ctr"/>
          <a:lstStyle/>
          <a:p>
            <a:pPr marL="0" indent="0">
              <a:buNone/>
            </a:pPr>
            <a:r>
              <a:rPr lang="en-US" sz="1100" dirty="0">
                <a:solidFill>
                  <a:srgbClr val="D7D9DB"/>
                </a:solidFill>
                <a:latin typeface="Calibri" pitchFamily="34" charset="0"/>
                <a:ea typeface="Calibri" pitchFamily="34" charset="-122"/>
                <a:cs typeface="Calibri" pitchFamily="34" charset="-120"/>
              </a:rPr>
              <a:t>Residential · Night</a:t>
            </a:r>
            <a:endParaRPr lang="en-US" sz="1100" dirty="0"/>
          </a:p>
        </p:txBody>
      </p:sp>
      <p:sp>
        <p:nvSpPr>
          <p:cNvPr id="48" name="Text 45"/>
          <p:cNvSpPr/>
          <p:nvPr/>
        </p:nvSpPr>
        <p:spPr>
          <a:xfrm>
            <a:off x="457200" y="6492240"/>
            <a:ext cx="8686800" cy="274320"/>
          </a:xfrm>
          <a:prstGeom prst="rect">
            <a:avLst/>
          </a:prstGeom>
          <a:noFill/>
          <a:ln/>
        </p:spPr>
        <p:txBody>
          <a:bodyPr wrap="square" rtlCol="0" anchor="ctr"/>
          <a:lstStyle/>
          <a:p>
            <a:pPr marL="0" indent="0" algn="l">
              <a:buNone/>
            </a:pPr>
            <a:endParaRPr lang="en-US" sz="1100" dirty="0"/>
          </a:p>
        </p:txBody>
      </p:sp>
      <p:sp>
        <p:nvSpPr>
          <p:cNvPr id="49" name="Text 46"/>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06  —  KEY FEATURES</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What the System Does</a:t>
            </a:r>
            <a:endParaRPr lang="en-US" sz="2900" dirty="0"/>
          </a:p>
        </p:txBody>
      </p:sp>
      <p:sp>
        <p:nvSpPr>
          <p:cNvPr id="4" name="Shape 2"/>
          <p:cNvSpPr/>
          <p:nvPr/>
        </p:nvSpPr>
        <p:spPr>
          <a:xfrm>
            <a:off x="548640" y="1600200"/>
            <a:ext cx="2157984" cy="4160520"/>
          </a:xfrm>
          <a:prstGeom prst="roundRect">
            <a:avLst>
              <a:gd name="adj" fmla="val 4237"/>
            </a:avLst>
          </a:prstGeom>
          <a:solidFill>
            <a:srgbClr val="FFFFFF"/>
          </a:solidFill>
          <a:ln w="12700">
            <a:solidFill>
              <a:srgbClr val="E4E1DA"/>
            </a:solidFill>
            <a:prstDash val="solid"/>
          </a:ln>
        </p:spPr>
      </p:sp>
      <p:sp>
        <p:nvSpPr>
          <p:cNvPr id="5" name="Shape 3"/>
          <p:cNvSpPr/>
          <p:nvPr/>
        </p:nvSpPr>
        <p:spPr>
          <a:xfrm>
            <a:off x="1335024" y="1874520"/>
            <a:ext cx="585216" cy="585216"/>
          </a:xfrm>
          <a:prstGeom prst="ellipse">
            <a:avLst/>
          </a:prstGeom>
          <a:solidFill>
            <a:srgbClr val="2B2E33"/>
          </a:solidFill>
          <a:ln/>
        </p:spPr>
      </p:sp>
      <p:pic>
        <p:nvPicPr>
          <p:cNvPr id="6" name="Image 0" descr="icon_noise.png"/>
          <p:cNvPicPr>
            <a:picLocks noChangeAspect="1"/>
          </p:cNvPicPr>
          <p:nvPr/>
        </p:nvPicPr>
        <p:blipFill>
          <a:blip r:embed="rId3"/>
          <a:stretch>
            <a:fillRect/>
          </a:stretch>
        </p:blipFill>
        <p:spPr>
          <a:xfrm>
            <a:off x="1487180" y="2026676"/>
            <a:ext cx="280904" cy="280904"/>
          </a:xfrm>
          <a:prstGeom prst="rect">
            <a:avLst/>
          </a:prstGeom>
        </p:spPr>
      </p:pic>
      <p:sp>
        <p:nvSpPr>
          <p:cNvPr id="7" name="Text 4"/>
          <p:cNvSpPr/>
          <p:nvPr/>
        </p:nvSpPr>
        <p:spPr>
          <a:xfrm>
            <a:off x="658368" y="2651760"/>
            <a:ext cx="1938528" cy="502920"/>
          </a:xfrm>
          <a:prstGeom prst="rect">
            <a:avLst/>
          </a:prstGeom>
          <a:noFill/>
          <a:ln/>
        </p:spPr>
        <p:txBody>
          <a:bodyPr wrap="square" rtlCol="0" anchor="ctr"/>
          <a:lstStyle/>
          <a:p>
            <a:pPr marL="0" indent="0" algn="ctr">
              <a:buNone/>
            </a:pPr>
            <a:r>
              <a:rPr lang="en-US" sz="1400" b="1" dirty="0">
                <a:solidFill>
                  <a:srgbClr val="2B2E33"/>
                </a:solidFill>
                <a:latin typeface="Cambria" pitchFamily="34" charset="0"/>
                <a:ea typeface="Cambria" pitchFamily="34" charset="-122"/>
                <a:cs typeface="Cambria" pitchFamily="34" charset="-120"/>
              </a:rPr>
              <a:t>Noise Monitoring</a:t>
            </a:r>
            <a:endParaRPr lang="en-US" sz="1400" dirty="0"/>
          </a:p>
        </p:txBody>
      </p:sp>
      <p:sp>
        <p:nvSpPr>
          <p:cNvPr id="8" name="Text 5"/>
          <p:cNvSpPr/>
          <p:nvPr/>
        </p:nvSpPr>
        <p:spPr>
          <a:xfrm>
            <a:off x="713232" y="3246120"/>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Date &amp; time</a:t>
            </a:r>
            <a:endParaRPr lang="en-US" sz="1200" dirty="0"/>
          </a:p>
        </p:txBody>
      </p:sp>
      <p:sp>
        <p:nvSpPr>
          <p:cNvPr id="9" name="Text 6"/>
          <p:cNvSpPr/>
          <p:nvPr/>
        </p:nvSpPr>
        <p:spPr>
          <a:xfrm>
            <a:off x="713232" y="3648456"/>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Zone</a:t>
            </a:r>
            <a:endParaRPr lang="en-US" sz="1200" dirty="0"/>
          </a:p>
        </p:txBody>
      </p:sp>
      <p:sp>
        <p:nvSpPr>
          <p:cNvPr id="10" name="Text 7"/>
          <p:cNvSpPr/>
          <p:nvPr/>
        </p:nvSpPr>
        <p:spPr>
          <a:xfrm>
            <a:off x="713232" y="4050792"/>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dB(A) Leq</a:t>
            </a:r>
            <a:endParaRPr lang="en-US" sz="1200" dirty="0"/>
          </a:p>
        </p:txBody>
      </p:sp>
      <p:sp>
        <p:nvSpPr>
          <p:cNvPr id="11" name="Text 8"/>
          <p:cNvSpPr/>
          <p:nvPr/>
        </p:nvSpPr>
        <p:spPr>
          <a:xfrm>
            <a:off x="713232" y="4453128"/>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Duration</a:t>
            </a:r>
            <a:endParaRPr lang="en-US" sz="1200" dirty="0"/>
          </a:p>
        </p:txBody>
      </p:sp>
      <p:sp>
        <p:nvSpPr>
          <p:cNvPr id="12" name="Text 9"/>
          <p:cNvSpPr/>
          <p:nvPr/>
        </p:nvSpPr>
        <p:spPr>
          <a:xfrm>
            <a:off x="713232" y="4855464"/>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Status</a:t>
            </a:r>
            <a:endParaRPr lang="en-US" sz="1200" dirty="0"/>
          </a:p>
        </p:txBody>
      </p:sp>
      <p:sp>
        <p:nvSpPr>
          <p:cNvPr id="13" name="Shape 10"/>
          <p:cNvSpPr/>
          <p:nvPr/>
        </p:nvSpPr>
        <p:spPr>
          <a:xfrm>
            <a:off x="2848356" y="1600200"/>
            <a:ext cx="2157984" cy="4160520"/>
          </a:xfrm>
          <a:prstGeom prst="roundRect">
            <a:avLst>
              <a:gd name="adj" fmla="val 4237"/>
            </a:avLst>
          </a:prstGeom>
          <a:solidFill>
            <a:srgbClr val="FFFFFF"/>
          </a:solidFill>
          <a:ln w="12700">
            <a:solidFill>
              <a:srgbClr val="E4E1DA"/>
            </a:solidFill>
            <a:prstDash val="solid"/>
          </a:ln>
        </p:spPr>
      </p:sp>
      <p:sp>
        <p:nvSpPr>
          <p:cNvPr id="14" name="Shape 11"/>
          <p:cNvSpPr/>
          <p:nvPr/>
        </p:nvSpPr>
        <p:spPr>
          <a:xfrm>
            <a:off x="3634740" y="1874520"/>
            <a:ext cx="585216" cy="585216"/>
          </a:xfrm>
          <a:prstGeom prst="ellipse">
            <a:avLst/>
          </a:prstGeom>
          <a:solidFill>
            <a:srgbClr val="2B2E33"/>
          </a:solidFill>
          <a:ln/>
        </p:spPr>
      </p:sp>
      <p:pic>
        <p:nvPicPr>
          <p:cNvPr id="15" name="Image 1" descr="icon_dust.png"/>
          <p:cNvPicPr>
            <a:picLocks noChangeAspect="1"/>
          </p:cNvPicPr>
          <p:nvPr/>
        </p:nvPicPr>
        <p:blipFill>
          <a:blip r:embed="rId4"/>
          <a:stretch>
            <a:fillRect/>
          </a:stretch>
        </p:blipFill>
        <p:spPr>
          <a:xfrm>
            <a:off x="3786896" y="2026676"/>
            <a:ext cx="280904" cy="280904"/>
          </a:xfrm>
          <a:prstGeom prst="rect">
            <a:avLst/>
          </a:prstGeom>
        </p:spPr>
      </p:pic>
      <p:sp>
        <p:nvSpPr>
          <p:cNvPr id="16" name="Text 12"/>
          <p:cNvSpPr/>
          <p:nvPr/>
        </p:nvSpPr>
        <p:spPr>
          <a:xfrm>
            <a:off x="2958084" y="2651760"/>
            <a:ext cx="1938528" cy="502920"/>
          </a:xfrm>
          <a:prstGeom prst="rect">
            <a:avLst/>
          </a:prstGeom>
          <a:noFill/>
          <a:ln/>
        </p:spPr>
        <p:txBody>
          <a:bodyPr wrap="square" rtlCol="0" anchor="ctr"/>
          <a:lstStyle/>
          <a:p>
            <a:pPr marL="0" indent="0" algn="ctr">
              <a:buNone/>
            </a:pPr>
            <a:r>
              <a:rPr lang="en-US" sz="1400" b="1" dirty="0">
                <a:solidFill>
                  <a:srgbClr val="2B2E33"/>
                </a:solidFill>
                <a:latin typeface="Cambria" pitchFamily="34" charset="0"/>
                <a:ea typeface="Cambria" pitchFamily="34" charset="-122"/>
                <a:cs typeface="Cambria" pitchFamily="34" charset="-120"/>
              </a:rPr>
              <a:t>Dust Monitoring</a:t>
            </a:r>
            <a:endParaRPr lang="en-US" sz="1400" dirty="0"/>
          </a:p>
        </p:txBody>
      </p:sp>
      <p:sp>
        <p:nvSpPr>
          <p:cNvPr id="17" name="Text 13"/>
          <p:cNvSpPr/>
          <p:nvPr/>
        </p:nvSpPr>
        <p:spPr>
          <a:xfrm>
            <a:off x="3012948" y="3246120"/>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PM2.5</a:t>
            </a:r>
            <a:endParaRPr lang="en-US" sz="1200" dirty="0"/>
          </a:p>
        </p:txBody>
      </p:sp>
      <p:sp>
        <p:nvSpPr>
          <p:cNvPr id="18" name="Text 14"/>
          <p:cNvSpPr/>
          <p:nvPr/>
        </p:nvSpPr>
        <p:spPr>
          <a:xfrm>
            <a:off x="3012948" y="3648456"/>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PM10</a:t>
            </a:r>
            <a:endParaRPr lang="en-US" sz="1200" dirty="0"/>
          </a:p>
        </p:txBody>
      </p:sp>
      <p:sp>
        <p:nvSpPr>
          <p:cNvPr id="19" name="Text 15"/>
          <p:cNvSpPr/>
          <p:nvPr/>
        </p:nvSpPr>
        <p:spPr>
          <a:xfrm>
            <a:off x="3012948" y="4050792"/>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Date &amp; time</a:t>
            </a:r>
            <a:endParaRPr lang="en-US" sz="1200" dirty="0"/>
          </a:p>
        </p:txBody>
      </p:sp>
      <p:sp>
        <p:nvSpPr>
          <p:cNvPr id="20" name="Text 16"/>
          <p:cNvSpPr/>
          <p:nvPr/>
        </p:nvSpPr>
        <p:spPr>
          <a:xfrm>
            <a:off x="3012948" y="4453128"/>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Zone</a:t>
            </a:r>
            <a:endParaRPr lang="en-US" sz="1200" dirty="0"/>
          </a:p>
        </p:txBody>
      </p:sp>
      <p:sp>
        <p:nvSpPr>
          <p:cNvPr id="21" name="Text 17"/>
          <p:cNvSpPr/>
          <p:nvPr/>
        </p:nvSpPr>
        <p:spPr>
          <a:xfrm>
            <a:off x="3012948" y="4855464"/>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Status</a:t>
            </a:r>
            <a:endParaRPr lang="en-US" sz="1200" dirty="0"/>
          </a:p>
        </p:txBody>
      </p:sp>
      <p:sp>
        <p:nvSpPr>
          <p:cNvPr id="22" name="Shape 18"/>
          <p:cNvSpPr/>
          <p:nvPr/>
        </p:nvSpPr>
        <p:spPr>
          <a:xfrm>
            <a:off x="5148072" y="1600200"/>
            <a:ext cx="2157984" cy="4160520"/>
          </a:xfrm>
          <a:prstGeom prst="roundRect">
            <a:avLst>
              <a:gd name="adj" fmla="val 4237"/>
            </a:avLst>
          </a:prstGeom>
          <a:solidFill>
            <a:srgbClr val="FFFFFF"/>
          </a:solidFill>
          <a:ln w="12700">
            <a:solidFill>
              <a:srgbClr val="E4E1DA"/>
            </a:solidFill>
            <a:prstDash val="solid"/>
          </a:ln>
        </p:spPr>
      </p:sp>
      <p:sp>
        <p:nvSpPr>
          <p:cNvPr id="23" name="Shape 19"/>
          <p:cNvSpPr/>
          <p:nvPr/>
        </p:nvSpPr>
        <p:spPr>
          <a:xfrm>
            <a:off x="5934456" y="1874520"/>
            <a:ext cx="585216" cy="585216"/>
          </a:xfrm>
          <a:prstGeom prst="ellipse">
            <a:avLst/>
          </a:prstGeom>
          <a:solidFill>
            <a:srgbClr val="2B2E33"/>
          </a:solidFill>
          <a:ln/>
        </p:spPr>
      </p:sp>
      <p:pic>
        <p:nvPicPr>
          <p:cNvPr id="24" name="Image 2" descr="icon_dashboard.png"/>
          <p:cNvPicPr>
            <a:picLocks noChangeAspect="1"/>
          </p:cNvPicPr>
          <p:nvPr/>
        </p:nvPicPr>
        <p:blipFill>
          <a:blip r:embed="rId5"/>
          <a:stretch>
            <a:fillRect/>
          </a:stretch>
        </p:blipFill>
        <p:spPr>
          <a:xfrm>
            <a:off x="6086612" y="2026676"/>
            <a:ext cx="280904" cy="280904"/>
          </a:xfrm>
          <a:prstGeom prst="rect">
            <a:avLst/>
          </a:prstGeom>
        </p:spPr>
      </p:pic>
      <p:sp>
        <p:nvSpPr>
          <p:cNvPr id="25" name="Text 20"/>
          <p:cNvSpPr/>
          <p:nvPr/>
        </p:nvSpPr>
        <p:spPr>
          <a:xfrm>
            <a:off x="5257800" y="2651760"/>
            <a:ext cx="1938528" cy="502920"/>
          </a:xfrm>
          <a:prstGeom prst="rect">
            <a:avLst/>
          </a:prstGeom>
          <a:noFill/>
          <a:ln/>
        </p:spPr>
        <p:txBody>
          <a:bodyPr wrap="square" rtlCol="0" anchor="ctr"/>
          <a:lstStyle/>
          <a:p>
            <a:pPr marL="0" indent="0" algn="ctr">
              <a:buNone/>
            </a:pPr>
            <a:r>
              <a:rPr lang="en-US" sz="1400" b="1" dirty="0">
                <a:solidFill>
                  <a:srgbClr val="2B2E33"/>
                </a:solidFill>
                <a:latin typeface="Cambria" pitchFamily="34" charset="0"/>
                <a:ea typeface="Cambria" pitchFamily="34" charset="-122"/>
                <a:cs typeface="Cambria" pitchFamily="34" charset="-120"/>
              </a:rPr>
              <a:t>Dashboard</a:t>
            </a:r>
            <a:endParaRPr lang="en-US" sz="1400" dirty="0"/>
          </a:p>
        </p:txBody>
      </p:sp>
      <p:sp>
        <p:nvSpPr>
          <p:cNvPr id="26" name="Text 21"/>
          <p:cNvSpPr/>
          <p:nvPr/>
        </p:nvSpPr>
        <p:spPr>
          <a:xfrm>
            <a:off x="5312664" y="3246120"/>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Live status</a:t>
            </a:r>
            <a:endParaRPr lang="en-US" sz="1200" dirty="0"/>
          </a:p>
        </p:txBody>
      </p:sp>
      <p:sp>
        <p:nvSpPr>
          <p:cNvPr id="27" name="Text 22"/>
          <p:cNvSpPr/>
          <p:nvPr/>
        </p:nvSpPr>
        <p:spPr>
          <a:xfrm>
            <a:off x="5312664" y="3648456"/>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Total violations</a:t>
            </a:r>
            <a:endParaRPr lang="en-US" sz="1200" dirty="0"/>
          </a:p>
        </p:txBody>
      </p:sp>
      <p:sp>
        <p:nvSpPr>
          <p:cNvPr id="28" name="Text 23"/>
          <p:cNvSpPr/>
          <p:nvPr/>
        </p:nvSpPr>
        <p:spPr>
          <a:xfrm>
            <a:off x="5312664" y="4050792"/>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Noise &amp; dust trends</a:t>
            </a:r>
            <a:endParaRPr lang="en-US" sz="1200" dirty="0"/>
          </a:p>
        </p:txBody>
      </p:sp>
      <p:sp>
        <p:nvSpPr>
          <p:cNvPr id="29" name="Text 24"/>
          <p:cNvSpPr/>
          <p:nvPr/>
        </p:nvSpPr>
        <p:spPr>
          <a:xfrm>
            <a:off x="5312664" y="4453128"/>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Zone performance</a:t>
            </a:r>
            <a:endParaRPr lang="en-US" sz="1200" dirty="0"/>
          </a:p>
        </p:txBody>
      </p:sp>
      <p:sp>
        <p:nvSpPr>
          <p:cNvPr id="30" name="Text 25"/>
          <p:cNvSpPr/>
          <p:nvPr/>
        </p:nvSpPr>
        <p:spPr>
          <a:xfrm>
            <a:off x="5312664" y="4855464"/>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Compliance %</a:t>
            </a:r>
            <a:endParaRPr lang="en-US" sz="1200" dirty="0"/>
          </a:p>
        </p:txBody>
      </p:sp>
      <p:sp>
        <p:nvSpPr>
          <p:cNvPr id="31" name="Shape 26"/>
          <p:cNvSpPr/>
          <p:nvPr/>
        </p:nvSpPr>
        <p:spPr>
          <a:xfrm>
            <a:off x="7447788" y="1600200"/>
            <a:ext cx="2157984" cy="4160520"/>
          </a:xfrm>
          <a:prstGeom prst="roundRect">
            <a:avLst>
              <a:gd name="adj" fmla="val 4237"/>
            </a:avLst>
          </a:prstGeom>
          <a:solidFill>
            <a:srgbClr val="EA6A12"/>
          </a:solidFill>
          <a:ln/>
        </p:spPr>
      </p:sp>
      <p:sp>
        <p:nvSpPr>
          <p:cNvPr id="32" name="Shape 27"/>
          <p:cNvSpPr/>
          <p:nvPr/>
        </p:nvSpPr>
        <p:spPr>
          <a:xfrm>
            <a:off x="8234172" y="1874520"/>
            <a:ext cx="585216" cy="585216"/>
          </a:xfrm>
          <a:prstGeom prst="ellipse">
            <a:avLst/>
          </a:prstGeom>
          <a:solidFill>
            <a:srgbClr val="F5F3EE"/>
          </a:solidFill>
          <a:ln/>
        </p:spPr>
      </p:sp>
      <p:pic>
        <p:nvPicPr>
          <p:cNvPr id="33" name="Image 3" descr="icon_bell.png"/>
          <p:cNvPicPr>
            <a:picLocks noChangeAspect="1"/>
          </p:cNvPicPr>
          <p:nvPr/>
        </p:nvPicPr>
        <p:blipFill>
          <a:blip r:embed="rId6"/>
          <a:stretch>
            <a:fillRect/>
          </a:stretch>
        </p:blipFill>
        <p:spPr>
          <a:xfrm>
            <a:off x="8386328" y="2026676"/>
            <a:ext cx="280904" cy="280904"/>
          </a:xfrm>
          <a:prstGeom prst="rect">
            <a:avLst/>
          </a:prstGeom>
        </p:spPr>
      </p:pic>
      <p:sp>
        <p:nvSpPr>
          <p:cNvPr id="34" name="Text 28"/>
          <p:cNvSpPr/>
          <p:nvPr/>
        </p:nvSpPr>
        <p:spPr>
          <a:xfrm>
            <a:off x="7557516" y="2651760"/>
            <a:ext cx="1938528" cy="502920"/>
          </a:xfrm>
          <a:prstGeom prst="rect">
            <a:avLst/>
          </a:prstGeom>
          <a:noFill/>
          <a:ln/>
        </p:spPr>
        <p:txBody>
          <a:bodyPr wrap="square" rtlCol="0" anchor="ctr"/>
          <a:lstStyle/>
          <a:p>
            <a:pPr marL="0" indent="0" algn="ctr">
              <a:buNone/>
            </a:pPr>
            <a:r>
              <a:rPr lang="en-US" sz="1400" b="1" dirty="0">
                <a:solidFill>
                  <a:srgbClr val="F5F3EE"/>
                </a:solidFill>
                <a:latin typeface="Cambria" pitchFamily="34" charset="0"/>
                <a:ea typeface="Cambria" pitchFamily="34" charset="-122"/>
                <a:cs typeface="Cambria" pitchFamily="34" charset="-120"/>
              </a:rPr>
              <a:t>Alert System</a:t>
            </a:r>
            <a:endParaRPr lang="en-US" sz="1400" dirty="0"/>
          </a:p>
        </p:txBody>
      </p:sp>
      <p:sp>
        <p:nvSpPr>
          <p:cNvPr id="35" name="Text 29"/>
          <p:cNvSpPr/>
          <p:nvPr/>
        </p:nvSpPr>
        <p:spPr>
          <a:xfrm>
            <a:off x="7612380" y="3246120"/>
            <a:ext cx="1828800" cy="365760"/>
          </a:xfrm>
          <a:prstGeom prst="rect">
            <a:avLst/>
          </a:prstGeom>
          <a:noFill/>
          <a:ln/>
        </p:spPr>
        <p:txBody>
          <a:bodyPr wrap="square" rtlCol="0" anchor="ctr"/>
          <a:lstStyle/>
          <a:p>
            <a:pPr marL="0" indent="0" algn="ctr">
              <a:buNone/>
            </a:pPr>
            <a:r>
              <a:rPr lang="en-US" sz="1200" dirty="0">
                <a:solidFill>
                  <a:srgbClr val="FFEDE0"/>
                </a:solidFill>
                <a:latin typeface="Calibri" pitchFamily="34" charset="0"/>
                <a:ea typeface="Calibri" pitchFamily="34" charset="-122"/>
                <a:cs typeface="Calibri" pitchFamily="34" charset="-120"/>
              </a:rPr>
              <a:t>Auto-flags readings</a:t>
            </a:r>
            <a:endParaRPr lang="en-US" sz="1200" dirty="0"/>
          </a:p>
        </p:txBody>
      </p:sp>
      <p:sp>
        <p:nvSpPr>
          <p:cNvPr id="36" name="Text 30"/>
          <p:cNvSpPr/>
          <p:nvPr/>
        </p:nvSpPr>
        <p:spPr>
          <a:xfrm>
            <a:off x="7612380" y="3648456"/>
            <a:ext cx="1828800" cy="365760"/>
          </a:xfrm>
          <a:prstGeom prst="rect">
            <a:avLst/>
          </a:prstGeom>
          <a:noFill/>
          <a:ln/>
        </p:spPr>
        <p:txBody>
          <a:bodyPr wrap="square" rtlCol="0" anchor="ctr"/>
          <a:lstStyle/>
          <a:p>
            <a:pPr marL="0" indent="0" algn="ctr">
              <a:buNone/>
            </a:pPr>
            <a:r>
              <a:rPr lang="en-US" sz="1200" dirty="0">
                <a:solidFill>
                  <a:srgbClr val="FFEDE0"/>
                </a:solidFill>
                <a:latin typeface="Calibri" pitchFamily="34" charset="0"/>
                <a:ea typeface="Calibri" pitchFamily="34" charset="-122"/>
                <a:cs typeface="Calibri" pitchFamily="34" charset="-120"/>
              </a:rPr>
              <a:t>that exceed</a:t>
            </a:r>
            <a:endParaRPr lang="en-US" sz="1200" dirty="0"/>
          </a:p>
        </p:txBody>
      </p:sp>
      <p:sp>
        <p:nvSpPr>
          <p:cNvPr id="37" name="Text 31"/>
          <p:cNvSpPr/>
          <p:nvPr/>
        </p:nvSpPr>
        <p:spPr>
          <a:xfrm>
            <a:off x="7612380" y="4050792"/>
            <a:ext cx="1828800" cy="365760"/>
          </a:xfrm>
          <a:prstGeom prst="rect">
            <a:avLst/>
          </a:prstGeom>
          <a:noFill/>
          <a:ln/>
        </p:spPr>
        <p:txBody>
          <a:bodyPr wrap="square" rtlCol="0" anchor="ctr"/>
          <a:lstStyle/>
          <a:p>
            <a:pPr marL="0" indent="0" algn="ctr">
              <a:buNone/>
            </a:pPr>
            <a:r>
              <a:rPr lang="en-US" sz="1200" dirty="0">
                <a:solidFill>
                  <a:srgbClr val="FFEDE0"/>
                </a:solidFill>
                <a:latin typeface="Calibri" pitchFamily="34" charset="0"/>
                <a:ea typeface="Calibri" pitchFamily="34" charset="-122"/>
                <a:cs typeface="Calibri" pitchFamily="34" charset="-120"/>
              </a:rPr>
              <a:t>configured limits</a:t>
            </a:r>
            <a:endParaRPr lang="en-US" sz="1200" dirty="0"/>
          </a:p>
        </p:txBody>
      </p:sp>
      <p:sp>
        <p:nvSpPr>
          <p:cNvPr id="38" name="Shape 32"/>
          <p:cNvSpPr/>
          <p:nvPr/>
        </p:nvSpPr>
        <p:spPr>
          <a:xfrm>
            <a:off x="9747504" y="1600200"/>
            <a:ext cx="2157984" cy="4160520"/>
          </a:xfrm>
          <a:prstGeom prst="roundRect">
            <a:avLst>
              <a:gd name="adj" fmla="val 4237"/>
            </a:avLst>
          </a:prstGeom>
          <a:solidFill>
            <a:srgbClr val="FFFFFF"/>
          </a:solidFill>
          <a:ln w="12700">
            <a:solidFill>
              <a:srgbClr val="E4E1DA"/>
            </a:solidFill>
            <a:prstDash val="solid"/>
          </a:ln>
        </p:spPr>
      </p:sp>
      <p:sp>
        <p:nvSpPr>
          <p:cNvPr id="39" name="Shape 33"/>
          <p:cNvSpPr/>
          <p:nvPr/>
        </p:nvSpPr>
        <p:spPr>
          <a:xfrm>
            <a:off x="10533888" y="1874520"/>
            <a:ext cx="585216" cy="585216"/>
          </a:xfrm>
          <a:prstGeom prst="ellipse">
            <a:avLst/>
          </a:prstGeom>
          <a:solidFill>
            <a:srgbClr val="2B2E33"/>
          </a:solidFill>
          <a:ln/>
        </p:spPr>
      </p:sp>
      <p:pic>
        <p:nvPicPr>
          <p:cNvPr id="40" name="Image 4" descr="icon_report.png"/>
          <p:cNvPicPr>
            <a:picLocks noChangeAspect="1"/>
          </p:cNvPicPr>
          <p:nvPr/>
        </p:nvPicPr>
        <p:blipFill>
          <a:blip r:embed="rId7"/>
          <a:stretch>
            <a:fillRect/>
          </a:stretch>
        </p:blipFill>
        <p:spPr>
          <a:xfrm>
            <a:off x="10686044" y="2026676"/>
            <a:ext cx="280904" cy="280904"/>
          </a:xfrm>
          <a:prstGeom prst="rect">
            <a:avLst/>
          </a:prstGeom>
        </p:spPr>
      </p:pic>
      <p:sp>
        <p:nvSpPr>
          <p:cNvPr id="41" name="Text 34"/>
          <p:cNvSpPr/>
          <p:nvPr/>
        </p:nvSpPr>
        <p:spPr>
          <a:xfrm>
            <a:off x="9857232" y="2651760"/>
            <a:ext cx="1938528" cy="502920"/>
          </a:xfrm>
          <a:prstGeom prst="rect">
            <a:avLst/>
          </a:prstGeom>
          <a:noFill/>
          <a:ln/>
        </p:spPr>
        <p:txBody>
          <a:bodyPr wrap="square" rtlCol="0" anchor="ctr"/>
          <a:lstStyle/>
          <a:p>
            <a:pPr marL="0" indent="0" algn="ctr">
              <a:buNone/>
            </a:pPr>
            <a:r>
              <a:rPr lang="en-US" sz="1400" b="1" dirty="0">
                <a:solidFill>
                  <a:srgbClr val="2B2E33"/>
                </a:solidFill>
                <a:latin typeface="Cambria" pitchFamily="34" charset="0"/>
                <a:ea typeface="Cambria" pitchFamily="34" charset="-122"/>
                <a:cs typeface="Cambria" pitchFamily="34" charset="-120"/>
              </a:rPr>
              <a:t>Reports</a:t>
            </a:r>
            <a:endParaRPr lang="en-US" sz="1400" dirty="0"/>
          </a:p>
        </p:txBody>
      </p:sp>
      <p:sp>
        <p:nvSpPr>
          <p:cNvPr id="42" name="Text 35"/>
          <p:cNvSpPr/>
          <p:nvPr/>
        </p:nvSpPr>
        <p:spPr>
          <a:xfrm>
            <a:off x="9912096" y="3246120"/>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Daily reports</a:t>
            </a:r>
            <a:endParaRPr lang="en-US" sz="1200" dirty="0"/>
          </a:p>
        </p:txBody>
      </p:sp>
      <p:sp>
        <p:nvSpPr>
          <p:cNvPr id="43" name="Text 36"/>
          <p:cNvSpPr/>
          <p:nvPr/>
        </p:nvSpPr>
        <p:spPr>
          <a:xfrm>
            <a:off x="9912096" y="3648456"/>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Weekly reports</a:t>
            </a:r>
            <a:endParaRPr lang="en-US" sz="1200" dirty="0"/>
          </a:p>
        </p:txBody>
      </p:sp>
      <p:sp>
        <p:nvSpPr>
          <p:cNvPr id="44" name="Text 37"/>
          <p:cNvSpPr/>
          <p:nvPr/>
        </p:nvSpPr>
        <p:spPr>
          <a:xfrm>
            <a:off x="9912096" y="4050792"/>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Monthly reports</a:t>
            </a:r>
            <a:endParaRPr lang="en-US" sz="1200" dirty="0"/>
          </a:p>
        </p:txBody>
      </p:sp>
      <p:sp>
        <p:nvSpPr>
          <p:cNvPr id="45" name="Text 38"/>
          <p:cNvSpPr/>
          <p:nvPr/>
        </p:nvSpPr>
        <p:spPr>
          <a:xfrm>
            <a:off x="9912096" y="4453128"/>
            <a:ext cx="1828800" cy="365760"/>
          </a:xfrm>
          <a:prstGeom prst="rect">
            <a:avLst/>
          </a:prstGeom>
          <a:noFill/>
          <a:ln/>
        </p:spPr>
        <p:txBody>
          <a:bodyPr wrap="square" rtlCol="0" anchor="ctr"/>
          <a:lstStyle/>
          <a:p>
            <a:pPr marL="0" indent="0" algn="ctr">
              <a:buNone/>
            </a:pPr>
            <a:r>
              <a:rPr lang="en-US" sz="1200" dirty="0">
                <a:solidFill>
                  <a:srgbClr val="4A4E54"/>
                </a:solidFill>
                <a:latin typeface="Calibri" pitchFamily="34" charset="0"/>
                <a:ea typeface="Calibri" pitchFamily="34" charset="-122"/>
                <a:cs typeface="Calibri" pitchFamily="34" charset="-120"/>
              </a:rPr>
              <a:t>Violation reports</a:t>
            </a:r>
            <a:endParaRPr lang="en-US" sz="1200" dirty="0"/>
          </a:p>
        </p:txBody>
      </p:sp>
      <p:sp>
        <p:nvSpPr>
          <p:cNvPr id="46" name="Text 39"/>
          <p:cNvSpPr/>
          <p:nvPr/>
        </p:nvSpPr>
        <p:spPr>
          <a:xfrm>
            <a:off x="457200" y="6492240"/>
            <a:ext cx="8686800" cy="274320"/>
          </a:xfrm>
          <a:prstGeom prst="rect">
            <a:avLst/>
          </a:prstGeom>
          <a:noFill/>
          <a:ln/>
        </p:spPr>
        <p:txBody>
          <a:bodyPr wrap="square" rtlCol="0" anchor="ctr"/>
          <a:lstStyle/>
          <a:p>
            <a:pPr marL="0" indent="0" algn="l">
              <a:buNone/>
            </a:pPr>
            <a:r>
              <a:rPr lang="en-US" sz="1100" b="1" dirty="0">
                <a:solidFill>
                  <a:srgbClr val="52565C"/>
                </a:solidFill>
                <a:latin typeface="Calibri" pitchFamily="34" charset="0"/>
                <a:ea typeface="Calibri" pitchFamily="34" charset="-122"/>
                <a:cs typeface="Calibri" pitchFamily="34" charset="-120"/>
              </a:rPr>
              <a:t>Construction Site Noise &amp; Dust Compliance Monitor</a:t>
            </a:r>
            <a:endParaRPr lang="en-US" sz="1100" dirty="0"/>
          </a:p>
        </p:txBody>
      </p:sp>
      <p:sp>
        <p:nvSpPr>
          <p:cNvPr id="47" name="Text 40"/>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07  —  TECHNOLOGY STACK</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Technologies &amp; System Requirements</a:t>
            </a:r>
            <a:endParaRPr lang="en-US" sz="2900" dirty="0"/>
          </a:p>
        </p:txBody>
      </p:sp>
      <p:sp>
        <p:nvSpPr>
          <p:cNvPr id="4" name="Shape 2"/>
          <p:cNvSpPr/>
          <p:nvPr/>
        </p:nvSpPr>
        <p:spPr>
          <a:xfrm>
            <a:off x="548640" y="1600200"/>
            <a:ext cx="7040880" cy="4133088"/>
          </a:xfrm>
          <a:prstGeom prst="roundRect">
            <a:avLst>
              <a:gd name="adj" fmla="val 1770"/>
            </a:avLst>
          </a:prstGeom>
          <a:solidFill>
            <a:srgbClr val="FFFFFF"/>
          </a:solidFill>
          <a:ln w="12700">
            <a:solidFill>
              <a:srgbClr val="E4E1DA"/>
            </a:solidFill>
            <a:prstDash val="solid"/>
          </a:ln>
        </p:spPr>
      </p:sp>
      <p:sp>
        <p:nvSpPr>
          <p:cNvPr id="5" name="Text 3"/>
          <p:cNvSpPr/>
          <p:nvPr/>
        </p:nvSpPr>
        <p:spPr>
          <a:xfrm>
            <a:off x="822960" y="16002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Frontend</a:t>
            </a:r>
            <a:endParaRPr lang="en-US" sz="1250" dirty="0"/>
          </a:p>
        </p:txBody>
      </p:sp>
      <p:sp>
        <p:nvSpPr>
          <p:cNvPr id="6" name="Text 4"/>
          <p:cNvSpPr/>
          <p:nvPr/>
        </p:nvSpPr>
        <p:spPr>
          <a:xfrm>
            <a:off x="3291840" y="16002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React.js</a:t>
            </a:r>
            <a:endParaRPr lang="en-US" sz="1250" dirty="0"/>
          </a:p>
        </p:txBody>
      </p:sp>
      <p:sp>
        <p:nvSpPr>
          <p:cNvPr id="7" name="Shape 5"/>
          <p:cNvSpPr/>
          <p:nvPr/>
        </p:nvSpPr>
        <p:spPr>
          <a:xfrm>
            <a:off x="548640" y="2057400"/>
            <a:ext cx="7040880" cy="457200"/>
          </a:xfrm>
          <a:prstGeom prst="rect">
            <a:avLst/>
          </a:prstGeom>
          <a:solidFill>
            <a:srgbClr val="F0EDE6"/>
          </a:solidFill>
          <a:ln/>
        </p:spPr>
      </p:sp>
      <p:sp>
        <p:nvSpPr>
          <p:cNvPr id="8" name="Text 6"/>
          <p:cNvSpPr/>
          <p:nvPr/>
        </p:nvSpPr>
        <p:spPr>
          <a:xfrm>
            <a:off x="822960" y="20574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Backend</a:t>
            </a:r>
            <a:endParaRPr lang="en-US" sz="1250" dirty="0"/>
          </a:p>
        </p:txBody>
      </p:sp>
      <p:sp>
        <p:nvSpPr>
          <p:cNvPr id="9" name="Text 7"/>
          <p:cNvSpPr/>
          <p:nvPr/>
        </p:nvSpPr>
        <p:spPr>
          <a:xfrm>
            <a:off x="3291840" y="20574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Python + Flask / FastAPI</a:t>
            </a:r>
            <a:endParaRPr lang="en-US" sz="1250" dirty="0"/>
          </a:p>
        </p:txBody>
      </p:sp>
      <p:sp>
        <p:nvSpPr>
          <p:cNvPr id="10" name="Text 8"/>
          <p:cNvSpPr/>
          <p:nvPr/>
        </p:nvSpPr>
        <p:spPr>
          <a:xfrm>
            <a:off x="822960" y="25146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Database</a:t>
            </a:r>
            <a:endParaRPr lang="en-US" sz="1250" dirty="0"/>
          </a:p>
        </p:txBody>
      </p:sp>
      <p:sp>
        <p:nvSpPr>
          <p:cNvPr id="11" name="Text 9"/>
          <p:cNvSpPr/>
          <p:nvPr/>
        </p:nvSpPr>
        <p:spPr>
          <a:xfrm>
            <a:off x="3291840" y="25146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MySQL</a:t>
            </a:r>
            <a:endParaRPr lang="en-US" sz="1250" dirty="0"/>
          </a:p>
        </p:txBody>
      </p:sp>
      <p:sp>
        <p:nvSpPr>
          <p:cNvPr id="12" name="Shape 10"/>
          <p:cNvSpPr/>
          <p:nvPr/>
        </p:nvSpPr>
        <p:spPr>
          <a:xfrm>
            <a:off x="548640" y="2971800"/>
            <a:ext cx="7040880" cy="457200"/>
          </a:xfrm>
          <a:prstGeom prst="rect">
            <a:avLst/>
          </a:prstGeom>
          <a:solidFill>
            <a:srgbClr val="F0EDE6"/>
          </a:solidFill>
          <a:ln/>
        </p:spPr>
      </p:sp>
      <p:sp>
        <p:nvSpPr>
          <p:cNvPr id="13" name="Text 11"/>
          <p:cNvSpPr/>
          <p:nvPr/>
        </p:nvSpPr>
        <p:spPr>
          <a:xfrm>
            <a:off x="822960" y="29718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Data Analysis</a:t>
            </a:r>
            <a:endParaRPr lang="en-US" sz="1250" dirty="0"/>
          </a:p>
        </p:txBody>
      </p:sp>
      <p:sp>
        <p:nvSpPr>
          <p:cNvPr id="14" name="Text 12"/>
          <p:cNvSpPr/>
          <p:nvPr/>
        </p:nvSpPr>
        <p:spPr>
          <a:xfrm>
            <a:off x="3291840" y="29718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Python, Pandas</a:t>
            </a:r>
            <a:endParaRPr lang="en-US" sz="1250" dirty="0"/>
          </a:p>
        </p:txBody>
      </p:sp>
      <p:sp>
        <p:nvSpPr>
          <p:cNvPr id="15" name="Text 13"/>
          <p:cNvSpPr/>
          <p:nvPr/>
        </p:nvSpPr>
        <p:spPr>
          <a:xfrm>
            <a:off x="822960" y="34290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AI / ML</a:t>
            </a:r>
            <a:endParaRPr lang="en-US" sz="1250" dirty="0"/>
          </a:p>
        </p:txBody>
      </p:sp>
      <p:sp>
        <p:nvSpPr>
          <p:cNvPr id="16" name="Text 14"/>
          <p:cNvSpPr/>
          <p:nvPr/>
        </p:nvSpPr>
        <p:spPr>
          <a:xfrm>
            <a:off x="3291840" y="34290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Scikit-learn</a:t>
            </a:r>
            <a:endParaRPr lang="en-US" sz="1250" dirty="0"/>
          </a:p>
        </p:txBody>
      </p:sp>
      <p:sp>
        <p:nvSpPr>
          <p:cNvPr id="17" name="Shape 15"/>
          <p:cNvSpPr/>
          <p:nvPr/>
        </p:nvSpPr>
        <p:spPr>
          <a:xfrm>
            <a:off x="548640" y="3886200"/>
            <a:ext cx="7040880" cy="457200"/>
          </a:xfrm>
          <a:prstGeom prst="rect">
            <a:avLst/>
          </a:prstGeom>
          <a:solidFill>
            <a:srgbClr val="F0EDE6"/>
          </a:solidFill>
          <a:ln/>
        </p:spPr>
      </p:sp>
      <p:sp>
        <p:nvSpPr>
          <p:cNvPr id="18" name="Text 16"/>
          <p:cNvSpPr/>
          <p:nvPr/>
        </p:nvSpPr>
        <p:spPr>
          <a:xfrm>
            <a:off x="822960" y="38862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Charts</a:t>
            </a:r>
            <a:endParaRPr lang="en-US" sz="1250" dirty="0"/>
          </a:p>
        </p:txBody>
      </p:sp>
      <p:sp>
        <p:nvSpPr>
          <p:cNvPr id="19" name="Text 17"/>
          <p:cNvSpPr/>
          <p:nvPr/>
        </p:nvSpPr>
        <p:spPr>
          <a:xfrm>
            <a:off x="3291840" y="38862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Chart.js</a:t>
            </a:r>
            <a:endParaRPr lang="en-US" sz="1250" dirty="0"/>
          </a:p>
        </p:txBody>
      </p:sp>
      <p:sp>
        <p:nvSpPr>
          <p:cNvPr id="20" name="Text 18"/>
          <p:cNvSpPr/>
          <p:nvPr/>
        </p:nvSpPr>
        <p:spPr>
          <a:xfrm>
            <a:off x="822960" y="43434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Authentication</a:t>
            </a:r>
            <a:endParaRPr lang="en-US" sz="1250" dirty="0"/>
          </a:p>
        </p:txBody>
      </p:sp>
      <p:sp>
        <p:nvSpPr>
          <p:cNvPr id="21" name="Text 19"/>
          <p:cNvSpPr/>
          <p:nvPr/>
        </p:nvSpPr>
        <p:spPr>
          <a:xfrm>
            <a:off x="3291840" y="43434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JWT / session-based authentication</a:t>
            </a:r>
            <a:endParaRPr lang="en-US" sz="1250" dirty="0"/>
          </a:p>
        </p:txBody>
      </p:sp>
      <p:sp>
        <p:nvSpPr>
          <p:cNvPr id="22" name="Shape 20"/>
          <p:cNvSpPr/>
          <p:nvPr/>
        </p:nvSpPr>
        <p:spPr>
          <a:xfrm>
            <a:off x="548640" y="4800600"/>
            <a:ext cx="7040880" cy="457200"/>
          </a:xfrm>
          <a:prstGeom prst="rect">
            <a:avLst/>
          </a:prstGeom>
          <a:solidFill>
            <a:srgbClr val="F0EDE6"/>
          </a:solidFill>
          <a:ln/>
        </p:spPr>
      </p:sp>
      <p:sp>
        <p:nvSpPr>
          <p:cNvPr id="23" name="Text 21"/>
          <p:cNvSpPr/>
          <p:nvPr/>
        </p:nvSpPr>
        <p:spPr>
          <a:xfrm>
            <a:off x="822960" y="48006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Reports</a:t>
            </a:r>
            <a:endParaRPr lang="en-US" sz="1250" dirty="0"/>
          </a:p>
        </p:txBody>
      </p:sp>
      <p:sp>
        <p:nvSpPr>
          <p:cNvPr id="24" name="Text 22"/>
          <p:cNvSpPr/>
          <p:nvPr/>
        </p:nvSpPr>
        <p:spPr>
          <a:xfrm>
            <a:off x="3291840" y="48006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Python PDF library</a:t>
            </a:r>
            <a:endParaRPr lang="en-US" sz="1250" dirty="0"/>
          </a:p>
        </p:txBody>
      </p:sp>
      <p:sp>
        <p:nvSpPr>
          <p:cNvPr id="25" name="Text 23"/>
          <p:cNvSpPr/>
          <p:nvPr/>
        </p:nvSpPr>
        <p:spPr>
          <a:xfrm>
            <a:off x="822960" y="5257800"/>
            <a:ext cx="2377440" cy="457200"/>
          </a:xfrm>
          <a:prstGeom prst="rect">
            <a:avLst/>
          </a:prstGeom>
          <a:noFill/>
          <a:ln/>
        </p:spPr>
        <p:txBody>
          <a:bodyPr wrap="square" rtlCol="0" anchor="ctr"/>
          <a:lstStyle/>
          <a:p>
            <a:pPr marL="0" indent="0">
              <a:buNone/>
            </a:pPr>
            <a:r>
              <a:rPr lang="en-US" sz="1250" b="1" dirty="0">
                <a:solidFill>
                  <a:srgbClr val="2B2E33"/>
                </a:solidFill>
                <a:latin typeface="Calibri" pitchFamily="34" charset="0"/>
                <a:ea typeface="Calibri" pitchFamily="34" charset="-122"/>
                <a:cs typeface="Calibri" pitchFamily="34" charset="-120"/>
              </a:rPr>
              <a:t>Data Import</a:t>
            </a:r>
            <a:endParaRPr lang="en-US" sz="1250" dirty="0"/>
          </a:p>
        </p:txBody>
      </p:sp>
      <p:sp>
        <p:nvSpPr>
          <p:cNvPr id="26" name="Text 24"/>
          <p:cNvSpPr/>
          <p:nvPr/>
        </p:nvSpPr>
        <p:spPr>
          <a:xfrm>
            <a:off x="3291840" y="5257800"/>
            <a:ext cx="4023360" cy="457200"/>
          </a:xfrm>
          <a:prstGeom prst="rect">
            <a:avLst/>
          </a:prstGeom>
          <a:noFill/>
          <a:ln/>
        </p:spPr>
        <p:txBody>
          <a:bodyPr wrap="square" rtlCol="0" anchor="ctr"/>
          <a:lstStyle/>
          <a:p>
            <a:pPr marL="0" indent="0">
              <a:buNone/>
            </a:pPr>
            <a:r>
              <a:rPr lang="en-US" sz="1250" dirty="0">
                <a:solidFill>
                  <a:srgbClr val="6B7076"/>
                </a:solidFill>
                <a:latin typeface="Calibri" pitchFamily="34" charset="0"/>
                <a:ea typeface="Calibri" pitchFamily="34" charset="-122"/>
                <a:cs typeface="Calibri" pitchFamily="34" charset="-120"/>
              </a:rPr>
              <a:t>CSV / Excel</a:t>
            </a:r>
            <a:endParaRPr lang="en-US" sz="1250" dirty="0"/>
          </a:p>
        </p:txBody>
      </p:sp>
      <p:sp>
        <p:nvSpPr>
          <p:cNvPr id="27" name="Shape 25"/>
          <p:cNvSpPr/>
          <p:nvPr/>
        </p:nvSpPr>
        <p:spPr>
          <a:xfrm>
            <a:off x="7909560" y="1600200"/>
            <a:ext cx="3730752" cy="4160520"/>
          </a:xfrm>
          <a:prstGeom prst="roundRect">
            <a:avLst>
              <a:gd name="adj" fmla="val 2941"/>
            </a:avLst>
          </a:prstGeom>
          <a:solidFill>
            <a:srgbClr val="2B2E33"/>
          </a:solidFill>
          <a:ln/>
        </p:spPr>
      </p:sp>
      <p:sp>
        <p:nvSpPr>
          <p:cNvPr id="28" name="Shape 26"/>
          <p:cNvSpPr/>
          <p:nvPr/>
        </p:nvSpPr>
        <p:spPr>
          <a:xfrm>
            <a:off x="8138160" y="1828800"/>
            <a:ext cx="548640" cy="548640"/>
          </a:xfrm>
          <a:prstGeom prst="ellipse">
            <a:avLst/>
          </a:prstGeom>
          <a:solidFill>
            <a:srgbClr val="EA6A12"/>
          </a:solidFill>
          <a:ln/>
        </p:spPr>
      </p:sp>
      <p:pic>
        <p:nvPicPr>
          <p:cNvPr id="29" name="Image 0" descr="icon_gear.png"/>
          <p:cNvPicPr>
            <a:picLocks noChangeAspect="1"/>
          </p:cNvPicPr>
          <p:nvPr/>
        </p:nvPicPr>
        <p:blipFill>
          <a:blip r:embed="rId3"/>
          <a:stretch>
            <a:fillRect/>
          </a:stretch>
        </p:blipFill>
        <p:spPr>
          <a:xfrm>
            <a:off x="8280806" y="1971446"/>
            <a:ext cx="263347" cy="263347"/>
          </a:xfrm>
          <a:prstGeom prst="rect">
            <a:avLst/>
          </a:prstGeom>
        </p:spPr>
      </p:pic>
      <p:sp>
        <p:nvSpPr>
          <p:cNvPr id="30" name="Text 27"/>
          <p:cNvSpPr/>
          <p:nvPr/>
        </p:nvSpPr>
        <p:spPr>
          <a:xfrm>
            <a:off x="7909560" y="2514600"/>
            <a:ext cx="3291840" cy="548640"/>
          </a:xfrm>
          <a:prstGeom prst="rect">
            <a:avLst/>
          </a:prstGeom>
          <a:noFill/>
          <a:ln/>
        </p:spPr>
        <p:txBody>
          <a:bodyPr wrap="square" rtlCol="0" anchor="ctr"/>
          <a:lstStyle/>
          <a:p>
            <a:pPr marL="0" indent="0" algn="ctr">
              <a:buNone/>
            </a:pPr>
            <a:r>
              <a:rPr lang="en-US" sz="1600" b="1" dirty="0">
                <a:solidFill>
                  <a:srgbClr val="F5F3EE"/>
                </a:solidFill>
                <a:latin typeface="Cambria" pitchFamily="34" charset="0"/>
                <a:ea typeface="Cambria" pitchFamily="34" charset="-122"/>
                <a:cs typeface="Cambria" pitchFamily="34" charset="-120"/>
              </a:rPr>
              <a:t>Hardware Requirement</a:t>
            </a:r>
            <a:endParaRPr lang="en-US" sz="1600" dirty="0"/>
          </a:p>
        </p:txBody>
      </p:sp>
      <p:sp>
        <p:nvSpPr>
          <p:cNvPr id="31" name="Text 28"/>
          <p:cNvSpPr/>
          <p:nvPr/>
        </p:nvSpPr>
        <p:spPr>
          <a:xfrm>
            <a:off x="7909560" y="3063240"/>
            <a:ext cx="3291840" cy="685800"/>
          </a:xfrm>
          <a:prstGeom prst="rect">
            <a:avLst/>
          </a:prstGeom>
          <a:noFill/>
          <a:ln/>
        </p:spPr>
        <p:txBody>
          <a:bodyPr wrap="square" rtlCol="0" anchor="ctr"/>
          <a:lstStyle/>
          <a:p>
            <a:pPr marL="0" indent="0" algn="ctr">
              <a:buNone/>
            </a:pPr>
            <a:r>
              <a:rPr lang="en-US" sz="3600" b="1" dirty="0">
                <a:solidFill>
                  <a:srgbClr val="EA6A12"/>
                </a:solidFill>
                <a:latin typeface="Cambria" pitchFamily="34" charset="0"/>
                <a:ea typeface="Cambria" pitchFamily="34" charset="-122"/>
                <a:cs typeface="Cambria" pitchFamily="34" charset="-120"/>
              </a:rPr>
              <a:t>NONE</a:t>
            </a:r>
            <a:endParaRPr lang="en-US" sz="3600" dirty="0"/>
          </a:p>
        </p:txBody>
      </p:sp>
      <p:sp>
        <p:nvSpPr>
          <p:cNvPr id="32" name="Text 29"/>
          <p:cNvSpPr/>
          <p:nvPr/>
        </p:nvSpPr>
        <p:spPr>
          <a:xfrm>
            <a:off x="7909560" y="3703320"/>
            <a:ext cx="3291840" cy="320040"/>
          </a:xfrm>
          <a:prstGeom prst="rect">
            <a:avLst/>
          </a:prstGeom>
          <a:noFill/>
          <a:ln/>
        </p:spPr>
        <p:txBody>
          <a:bodyPr wrap="square" rtlCol="0" anchor="ctr"/>
          <a:lstStyle/>
          <a:p>
            <a:pPr marL="0" indent="0" algn="ctr">
              <a:buNone/>
            </a:pPr>
            <a:r>
              <a:rPr lang="en-US" sz="1150" i="1" dirty="0">
                <a:solidFill>
                  <a:srgbClr val="C9CDD1"/>
                </a:solidFill>
                <a:latin typeface="Calibri" pitchFamily="34" charset="0"/>
                <a:ea typeface="Calibri" pitchFamily="34" charset="-122"/>
                <a:cs typeface="Calibri" pitchFamily="34" charset="-120"/>
              </a:rPr>
              <a:t>for the current project</a:t>
            </a:r>
            <a:endParaRPr lang="en-US" sz="1150" dirty="0"/>
          </a:p>
        </p:txBody>
      </p:sp>
      <p:sp>
        <p:nvSpPr>
          <p:cNvPr id="33" name="Shape 30"/>
          <p:cNvSpPr/>
          <p:nvPr/>
        </p:nvSpPr>
        <p:spPr>
          <a:xfrm>
            <a:off x="8366760" y="4160520"/>
            <a:ext cx="2834640" cy="0"/>
          </a:xfrm>
          <a:prstGeom prst="line">
            <a:avLst/>
          </a:prstGeom>
          <a:noFill/>
          <a:ln w="12700">
            <a:solidFill>
              <a:srgbClr val="45494F"/>
            </a:solidFill>
            <a:prstDash val="solid"/>
          </a:ln>
        </p:spPr>
      </p:sp>
      <p:sp>
        <p:nvSpPr>
          <p:cNvPr id="34" name="Text 31"/>
          <p:cNvSpPr/>
          <p:nvPr/>
        </p:nvSpPr>
        <p:spPr>
          <a:xfrm>
            <a:off x="8092440" y="4297680"/>
            <a:ext cx="3017520" cy="274320"/>
          </a:xfrm>
          <a:prstGeom prst="rect">
            <a:avLst/>
          </a:prstGeom>
          <a:noFill/>
          <a:ln/>
        </p:spPr>
        <p:txBody>
          <a:bodyPr wrap="square" rtlCol="0" anchor="ctr"/>
          <a:lstStyle/>
          <a:p>
            <a:pPr marL="0" indent="0" algn="ctr">
              <a:buNone/>
            </a:pPr>
            <a:r>
              <a:rPr lang="en-US" sz="1150" dirty="0">
                <a:solidFill>
                  <a:srgbClr val="C9CDD1"/>
                </a:solidFill>
                <a:latin typeface="Calibri" pitchFamily="34" charset="0"/>
                <a:ea typeface="Calibri" pitchFamily="34" charset="-122"/>
                <a:cs typeface="Calibri" pitchFamily="34" charset="-120"/>
              </a:rPr>
              <a:t>The prototype works with:</a:t>
            </a:r>
            <a:endParaRPr lang="en-US" sz="1150" dirty="0"/>
          </a:p>
        </p:txBody>
      </p:sp>
      <p:sp>
        <p:nvSpPr>
          <p:cNvPr id="35" name="Text 32"/>
          <p:cNvSpPr/>
          <p:nvPr/>
        </p:nvSpPr>
        <p:spPr>
          <a:xfrm>
            <a:off x="8092440" y="4590288"/>
            <a:ext cx="3017520" cy="640080"/>
          </a:xfrm>
          <a:prstGeom prst="rect">
            <a:avLst/>
          </a:prstGeom>
          <a:noFill/>
          <a:ln/>
        </p:spPr>
        <p:txBody>
          <a:bodyPr wrap="square" rtlCol="0" anchor="ctr"/>
          <a:lstStyle/>
          <a:p>
            <a:pPr marL="0" indent="0" algn="ctr">
              <a:lnSpc>
                <a:spcPct val="115000"/>
              </a:lnSpc>
              <a:buNone/>
            </a:pPr>
            <a:r>
              <a:rPr lang="en-US" sz="1300" b="1" dirty="0">
                <a:solidFill>
                  <a:srgbClr val="F5F3EE"/>
                </a:solidFill>
                <a:latin typeface="Calibri" pitchFamily="34" charset="0"/>
                <a:ea typeface="Calibri" pitchFamily="34" charset="-122"/>
                <a:cs typeface="Calibri" pitchFamily="34" charset="-120"/>
              </a:rPr>
              <a:t>Manual data entry +</a:t>
            </a:r>
            <a:endParaRPr lang="en-US" sz="1300" dirty="0"/>
          </a:p>
          <a:p>
            <a:pPr marL="0" indent="0" algn="ctr">
              <a:lnSpc>
                <a:spcPct val="115000"/>
              </a:lnSpc>
              <a:buNone/>
            </a:pPr>
            <a:r>
              <a:rPr lang="en-US" sz="1300" b="1" dirty="0">
                <a:solidFill>
                  <a:srgbClr val="F5F3EE"/>
                </a:solidFill>
                <a:latin typeface="Calibri" pitchFamily="34" charset="0"/>
                <a:ea typeface="Calibri" pitchFamily="34" charset="-122"/>
                <a:cs typeface="Calibri" pitchFamily="34" charset="-120"/>
              </a:rPr>
              <a:t>CSV / Excel upload</a:t>
            </a:r>
            <a:endParaRPr lang="en-US" sz="1300" dirty="0"/>
          </a:p>
        </p:txBody>
      </p:sp>
      <p:sp>
        <p:nvSpPr>
          <p:cNvPr id="36" name="Text 33"/>
          <p:cNvSpPr/>
          <p:nvPr/>
        </p:nvSpPr>
        <p:spPr>
          <a:xfrm>
            <a:off x="8092440" y="5257800"/>
            <a:ext cx="3017520" cy="457200"/>
          </a:xfrm>
          <a:prstGeom prst="rect">
            <a:avLst/>
          </a:prstGeom>
          <a:noFill/>
          <a:ln/>
        </p:spPr>
        <p:txBody>
          <a:bodyPr wrap="square" rtlCol="0" anchor="ctr"/>
          <a:lstStyle/>
          <a:p>
            <a:pPr marL="0" indent="0" algn="ctr">
              <a:buNone/>
            </a:pPr>
            <a:r>
              <a:rPr lang="en-US" sz="1100" i="1" dirty="0">
                <a:solidFill>
                  <a:srgbClr val="6B7076"/>
                </a:solidFill>
                <a:latin typeface="Calibri" pitchFamily="34" charset="0"/>
                <a:ea typeface="Calibri" pitchFamily="34" charset="-122"/>
                <a:cs typeface="Calibri" pitchFamily="34" charset="-120"/>
              </a:rPr>
              <a:t>Future versions can optionally integrate external monitoring sources.</a:t>
            </a:r>
            <a:endParaRPr lang="en-US" sz="1100" dirty="0"/>
          </a:p>
        </p:txBody>
      </p:sp>
      <p:sp>
        <p:nvSpPr>
          <p:cNvPr id="38" name="Text 35"/>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08  —  PROGRESS ACHIEVED</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Where We Are Today</a:t>
            </a:r>
            <a:endParaRPr lang="en-US" sz="2900" dirty="0"/>
          </a:p>
        </p:txBody>
      </p:sp>
      <p:sp>
        <p:nvSpPr>
          <p:cNvPr id="4" name="Shape 2"/>
          <p:cNvSpPr/>
          <p:nvPr/>
        </p:nvSpPr>
        <p:spPr>
          <a:xfrm>
            <a:off x="548640" y="1600200"/>
            <a:ext cx="3291840" cy="4160520"/>
          </a:xfrm>
          <a:prstGeom prst="roundRect">
            <a:avLst>
              <a:gd name="adj" fmla="val 3333"/>
            </a:avLst>
          </a:prstGeom>
          <a:solidFill>
            <a:srgbClr val="2B2E33"/>
          </a:solidFill>
          <a:ln/>
        </p:spPr>
      </p:sp>
      <p:sp>
        <p:nvSpPr>
          <p:cNvPr id="5" name="Shape 3"/>
          <p:cNvSpPr/>
          <p:nvPr/>
        </p:nvSpPr>
        <p:spPr>
          <a:xfrm>
            <a:off x="777240" y="1828800"/>
            <a:ext cx="548640" cy="548640"/>
          </a:xfrm>
          <a:prstGeom prst="ellipse">
            <a:avLst/>
          </a:prstGeom>
          <a:solidFill>
            <a:srgbClr val="EA6A12"/>
          </a:solidFill>
          <a:ln/>
        </p:spPr>
      </p:sp>
      <p:pic>
        <p:nvPicPr>
          <p:cNvPr id="6" name="Image 0" descr="icon_clipboard.png"/>
          <p:cNvPicPr>
            <a:picLocks noChangeAspect="1"/>
          </p:cNvPicPr>
          <p:nvPr/>
        </p:nvPicPr>
        <p:blipFill>
          <a:blip r:embed="rId3"/>
          <a:stretch>
            <a:fillRect/>
          </a:stretch>
        </p:blipFill>
        <p:spPr>
          <a:xfrm>
            <a:off x="919886" y="1971446"/>
            <a:ext cx="263347" cy="263347"/>
          </a:xfrm>
          <a:prstGeom prst="rect">
            <a:avLst/>
          </a:prstGeom>
        </p:spPr>
      </p:pic>
      <p:sp>
        <p:nvSpPr>
          <p:cNvPr id="7" name="Text 4"/>
          <p:cNvSpPr/>
          <p:nvPr/>
        </p:nvSpPr>
        <p:spPr>
          <a:xfrm>
            <a:off x="548640" y="2514600"/>
            <a:ext cx="2834640" cy="365760"/>
          </a:xfrm>
          <a:prstGeom prst="rect">
            <a:avLst/>
          </a:prstGeom>
          <a:noFill/>
          <a:ln/>
        </p:spPr>
        <p:txBody>
          <a:bodyPr wrap="square" rtlCol="0" anchor="ctr"/>
          <a:lstStyle/>
          <a:p>
            <a:pPr marL="0" indent="0" algn="ctr">
              <a:buNone/>
            </a:pPr>
            <a:r>
              <a:rPr lang="en-US" sz="1500" b="1" dirty="0">
                <a:solidFill>
                  <a:srgbClr val="F5F3EE"/>
                </a:solidFill>
                <a:latin typeface="Cambria" pitchFamily="34" charset="0"/>
                <a:ea typeface="Cambria" pitchFamily="34" charset="-122"/>
                <a:cs typeface="Cambria" pitchFamily="34" charset="-120"/>
              </a:rPr>
              <a:t>Design Phase</a:t>
            </a:r>
            <a:endParaRPr lang="en-US" sz="1500" dirty="0"/>
          </a:p>
        </p:txBody>
      </p:sp>
      <p:sp>
        <p:nvSpPr>
          <p:cNvPr id="8" name="Text 5"/>
          <p:cNvSpPr/>
          <p:nvPr/>
        </p:nvSpPr>
        <p:spPr>
          <a:xfrm>
            <a:off x="548640" y="2880360"/>
            <a:ext cx="2834640" cy="365760"/>
          </a:xfrm>
          <a:prstGeom prst="rect">
            <a:avLst/>
          </a:prstGeom>
          <a:noFill/>
          <a:ln/>
        </p:spPr>
        <p:txBody>
          <a:bodyPr wrap="square" rtlCol="0" anchor="ctr"/>
          <a:lstStyle/>
          <a:p>
            <a:pPr marL="0" indent="0" algn="ctr">
              <a:buNone/>
            </a:pPr>
            <a:r>
              <a:rPr lang="en-US" sz="1250" i="1" dirty="0">
                <a:solidFill>
                  <a:srgbClr val="C9CDD1"/>
                </a:solidFill>
                <a:latin typeface="Calibri" pitchFamily="34" charset="0"/>
                <a:ea typeface="Calibri" pitchFamily="34" charset="-122"/>
                <a:cs typeface="Calibri" pitchFamily="34" charset="-120"/>
              </a:rPr>
              <a:t>Complete</a:t>
            </a:r>
            <a:endParaRPr lang="en-US" sz="1250" dirty="0"/>
          </a:p>
        </p:txBody>
      </p:sp>
      <p:sp>
        <p:nvSpPr>
          <p:cNvPr id="9" name="Shape 6"/>
          <p:cNvSpPr/>
          <p:nvPr/>
        </p:nvSpPr>
        <p:spPr>
          <a:xfrm>
            <a:off x="868680" y="3429000"/>
            <a:ext cx="2651760" cy="256032"/>
          </a:xfrm>
          <a:prstGeom prst="roundRect">
            <a:avLst>
              <a:gd name="adj" fmla="val 50000"/>
            </a:avLst>
          </a:prstGeom>
          <a:solidFill>
            <a:srgbClr val="3C4046"/>
          </a:solidFill>
          <a:ln/>
        </p:spPr>
      </p:sp>
      <p:sp>
        <p:nvSpPr>
          <p:cNvPr id="10" name="Shape 7"/>
          <p:cNvSpPr/>
          <p:nvPr/>
        </p:nvSpPr>
        <p:spPr>
          <a:xfrm>
            <a:off x="868680" y="3429000"/>
            <a:ext cx="1060704" cy="256032"/>
          </a:xfrm>
          <a:prstGeom prst="roundRect">
            <a:avLst>
              <a:gd name="adj" fmla="val 50000"/>
            </a:avLst>
          </a:prstGeom>
          <a:solidFill>
            <a:srgbClr val="EA6A12"/>
          </a:solidFill>
          <a:ln/>
        </p:spPr>
      </p:sp>
      <p:sp>
        <p:nvSpPr>
          <p:cNvPr id="11" name="Text 8"/>
          <p:cNvSpPr/>
          <p:nvPr/>
        </p:nvSpPr>
        <p:spPr>
          <a:xfrm>
            <a:off x="548640" y="3767328"/>
            <a:ext cx="2834640" cy="365760"/>
          </a:xfrm>
          <a:prstGeom prst="rect">
            <a:avLst/>
          </a:prstGeom>
          <a:noFill/>
          <a:ln/>
        </p:spPr>
        <p:txBody>
          <a:bodyPr wrap="square" rtlCol="0" anchor="ctr"/>
          <a:lstStyle/>
          <a:p>
            <a:pPr marL="0" indent="0" algn="ctr">
              <a:buNone/>
            </a:pPr>
            <a:r>
              <a:rPr lang="en-US" sz="1130" dirty="0">
                <a:solidFill>
                  <a:srgbClr val="C9CDD1"/>
                </a:solidFill>
                <a:latin typeface="Calibri" pitchFamily="34" charset="0"/>
                <a:ea typeface="Calibri" pitchFamily="34" charset="-122"/>
                <a:cs typeface="Calibri" pitchFamily="34" charset="-120"/>
              </a:rPr>
              <a:t>~40% of project timeline complete</a:t>
            </a:r>
            <a:endParaRPr lang="en-US" sz="1130" dirty="0"/>
          </a:p>
        </p:txBody>
      </p:sp>
      <p:sp>
        <p:nvSpPr>
          <p:cNvPr id="12" name="Shape 9"/>
          <p:cNvSpPr/>
          <p:nvPr/>
        </p:nvSpPr>
        <p:spPr>
          <a:xfrm>
            <a:off x="868680" y="4251960"/>
            <a:ext cx="2651760" cy="0"/>
          </a:xfrm>
          <a:prstGeom prst="line">
            <a:avLst/>
          </a:prstGeom>
          <a:noFill/>
          <a:ln w="12700">
            <a:solidFill>
              <a:srgbClr val="45494F"/>
            </a:solidFill>
            <a:prstDash val="solid"/>
          </a:ln>
        </p:spPr>
      </p:sp>
      <p:sp>
        <p:nvSpPr>
          <p:cNvPr id="13" name="Text 10"/>
          <p:cNvSpPr/>
          <p:nvPr/>
        </p:nvSpPr>
        <p:spPr>
          <a:xfrm>
            <a:off x="777240" y="4389120"/>
            <a:ext cx="2834640" cy="1188720"/>
          </a:xfrm>
          <a:prstGeom prst="rect">
            <a:avLst/>
          </a:prstGeom>
          <a:noFill/>
          <a:ln/>
        </p:spPr>
        <p:txBody>
          <a:bodyPr wrap="square" rtlCol="0" anchor="ctr"/>
          <a:lstStyle/>
          <a:p>
            <a:pPr marL="0" indent="0" algn="ctr">
              <a:lnSpc>
                <a:spcPct val="120000"/>
              </a:lnSpc>
              <a:buNone/>
            </a:pPr>
            <a:r>
              <a:rPr lang="en-US" sz="1180" dirty="0">
                <a:solidFill>
                  <a:srgbClr val="E4E6E8"/>
                </a:solidFill>
                <a:latin typeface="Calibri" pitchFamily="34" charset="0"/>
                <a:ea typeface="Calibri" pitchFamily="34" charset="-122"/>
                <a:cs typeface="Calibri" pitchFamily="34" charset="-120"/>
              </a:rPr>
              <a:t>Development of the software modules is the next milestone, based on the finalized architecture and schema.</a:t>
            </a:r>
            <a:endParaRPr lang="en-US" sz="1180" dirty="0"/>
          </a:p>
        </p:txBody>
      </p:sp>
      <p:sp>
        <p:nvSpPr>
          <p:cNvPr id="14" name="Shape 11"/>
          <p:cNvSpPr/>
          <p:nvPr/>
        </p:nvSpPr>
        <p:spPr>
          <a:xfrm>
            <a:off x="4114800" y="1691640"/>
            <a:ext cx="7525512" cy="566928"/>
          </a:xfrm>
          <a:prstGeom prst="roundRect">
            <a:avLst>
              <a:gd name="adj" fmla="val 12903"/>
            </a:avLst>
          </a:prstGeom>
          <a:solidFill>
            <a:srgbClr val="FFFFFF"/>
          </a:solidFill>
          <a:ln w="12700">
            <a:solidFill>
              <a:srgbClr val="E4E1DA"/>
            </a:solidFill>
            <a:prstDash val="solid"/>
          </a:ln>
        </p:spPr>
      </p:sp>
      <p:pic>
        <p:nvPicPr>
          <p:cNvPr id="15" name="Image 1" descr="icon_check.png"/>
          <p:cNvPicPr>
            <a:picLocks noChangeAspect="1"/>
          </p:cNvPicPr>
          <p:nvPr/>
        </p:nvPicPr>
        <p:blipFill>
          <a:blip r:embed="rId4"/>
          <a:stretch>
            <a:fillRect/>
          </a:stretch>
        </p:blipFill>
        <p:spPr>
          <a:xfrm>
            <a:off x="4279392" y="1828800"/>
            <a:ext cx="292608" cy="292608"/>
          </a:xfrm>
          <a:prstGeom prst="rect">
            <a:avLst/>
          </a:prstGeom>
        </p:spPr>
      </p:pic>
      <p:sp>
        <p:nvSpPr>
          <p:cNvPr id="16" name="Text 12"/>
          <p:cNvSpPr/>
          <p:nvPr/>
        </p:nvSpPr>
        <p:spPr>
          <a:xfrm>
            <a:off x="4709160" y="1691640"/>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Problem identification &amp; requirement gathering completed</a:t>
            </a:r>
            <a:endParaRPr lang="en-US" sz="1230" dirty="0"/>
          </a:p>
        </p:txBody>
      </p:sp>
      <p:sp>
        <p:nvSpPr>
          <p:cNvPr id="17" name="Shape 13"/>
          <p:cNvSpPr/>
          <p:nvPr/>
        </p:nvSpPr>
        <p:spPr>
          <a:xfrm>
            <a:off x="4114800" y="2318004"/>
            <a:ext cx="7525512" cy="566928"/>
          </a:xfrm>
          <a:prstGeom prst="roundRect">
            <a:avLst>
              <a:gd name="adj" fmla="val 12903"/>
            </a:avLst>
          </a:prstGeom>
          <a:solidFill>
            <a:srgbClr val="FFFFFF"/>
          </a:solidFill>
          <a:ln w="12700">
            <a:solidFill>
              <a:srgbClr val="E4E1DA"/>
            </a:solidFill>
            <a:prstDash val="solid"/>
          </a:ln>
        </p:spPr>
      </p:sp>
      <p:pic>
        <p:nvPicPr>
          <p:cNvPr id="18" name="Image 2" descr="icon_check.png"/>
          <p:cNvPicPr>
            <a:picLocks noChangeAspect="1"/>
          </p:cNvPicPr>
          <p:nvPr/>
        </p:nvPicPr>
        <p:blipFill>
          <a:blip r:embed="rId4"/>
          <a:stretch>
            <a:fillRect/>
          </a:stretch>
        </p:blipFill>
        <p:spPr>
          <a:xfrm>
            <a:off x="4279392" y="2455164"/>
            <a:ext cx="292608" cy="292608"/>
          </a:xfrm>
          <a:prstGeom prst="rect">
            <a:avLst/>
          </a:prstGeom>
        </p:spPr>
      </p:pic>
      <p:sp>
        <p:nvSpPr>
          <p:cNvPr id="19" name="Text 14"/>
          <p:cNvSpPr/>
          <p:nvPr/>
        </p:nvSpPr>
        <p:spPr>
          <a:xfrm>
            <a:off x="4709160" y="2318004"/>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Literature review of 4+ related studies and CPCB standards completed</a:t>
            </a:r>
            <a:endParaRPr lang="en-US" sz="1230" dirty="0"/>
          </a:p>
        </p:txBody>
      </p:sp>
      <p:sp>
        <p:nvSpPr>
          <p:cNvPr id="20" name="Shape 15"/>
          <p:cNvSpPr/>
          <p:nvPr/>
        </p:nvSpPr>
        <p:spPr>
          <a:xfrm>
            <a:off x="4114800" y="2944368"/>
            <a:ext cx="7525512" cy="566928"/>
          </a:xfrm>
          <a:prstGeom prst="roundRect">
            <a:avLst>
              <a:gd name="adj" fmla="val 12903"/>
            </a:avLst>
          </a:prstGeom>
          <a:solidFill>
            <a:srgbClr val="FFFFFF"/>
          </a:solidFill>
          <a:ln w="12700">
            <a:solidFill>
              <a:srgbClr val="E4E1DA"/>
            </a:solidFill>
            <a:prstDash val="solid"/>
          </a:ln>
        </p:spPr>
      </p:sp>
      <p:pic>
        <p:nvPicPr>
          <p:cNvPr id="21" name="Image 3" descr="icon_check.png"/>
          <p:cNvPicPr>
            <a:picLocks noChangeAspect="1"/>
          </p:cNvPicPr>
          <p:nvPr/>
        </p:nvPicPr>
        <p:blipFill>
          <a:blip r:embed="rId4"/>
          <a:stretch>
            <a:fillRect/>
          </a:stretch>
        </p:blipFill>
        <p:spPr>
          <a:xfrm>
            <a:off x="4279392" y="3081528"/>
            <a:ext cx="292608" cy="292608"/>
          </a:xfrm>
          <a:prstGeom prst="rect">
            <a:avLst/>
          </a:prstGeom>
        </p:spPr>
      </p:pic>
      <p:sp>
        <p:nvSpPr>
          <p:cNvPr id="22" name="Text 16"/>
          <p:cNvSpPr/>
          <p:nvPr/>
        </p:nvSpPr>
        <p:spPr>
          <a:xfrm>
            <a:off x="4709160" y="2944368"/>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System architecture and data flow finalized (site officer → database → analysis → dashboard)</a:t>
            </a:r>
            <a:endParaRPr lang="en-US" sz="1230" dirty="0"/>
          </a:p>
        </p:txBody>
      </p:sp>
      <p:sp>
        <p:nvSpPr>
          <p:cNvPr id="23" name="Shape 17"/>
          <p:cNvSpPr/>
          <p:nvPr/>
        </p:nvSpPr>
        <p:spPr>
          <a:xfrm>
            <a:off x="4114800" y="3570732"/>
            <a:ext cx="7525512" cy="566928"/>
          </a:xfrm>
          <a:prstGeom prst="roundRect">
            <a:avLst>
              <a:gd name="adj" fmla="val 12903"/>
            </a:avLst>
          </a:prstGeom>
          <a:solidFill>
            <a:srgbClr val="FFFFFF"/>
          </a:solidFill>
          <a:ln w="12700">
            <a:solidFill>
              <a:srgbClr val="E4E1DA"/>
            </a:solidFill>
            <a:prstDash val="solid"/>
          </a:ln>
        </p:spPr>
      </p:sp>
      <p:pic>
        <p:nvPicPr>
          <p:cNvPr id="24" name="Image 4" descr="icon_check.png"/>
          <p:cNvPicPr>
            <a:picLocks noChangeAspect="1"/>
          </p:cNvPicPr>
          <p:nvPr/>
        </p:nvPicPr>
        <p:blipFill>
          <a:blip r:embed="rId4"/>
          <a:stretch>
            <a:fillRect/>
          </a:stretch>
        </p:blipFill>
        <p:spPr>
          <a:xfrm>
            <a:off x="4279392" y="3707892"/>
            <a:ext cx="292608" cy="292608"/>
          </a:xfrm>
          <a:prstGeom prst="rect">
            <a:avLst/>
          </a:prstGeom>
        </p:spPr>
      </p:pic>
      <p:sp>
        <p:nvSpPr>
          <p:cNvPr id="25" name="Text 18"/>
          <p:cNvSpPr/>
          <p:nvPr/>
        </p:nvSpPr>
        <p:spPr>
          <a:xfrm>
            <a:off x="4709160" y="3570732"/>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Database schema designed for noise, dust, zones, thresholds and alerts</a:t>
            </a:r>
            <a:endParaRPr lang="en-US" sz="1230" dirty="0"/>
          </a:p>
        </p:txBody>
      </p:sp>
      <p:sp>
        <p:nvSpPr>
          <p:cNvPr id="26" name="Shape 19"/>
          <p:cNvSpPr/>
          <p:nvPr/>
        </p:nvSpPr>
        <p:spPr>
          <a:xfrm>
            <a:off x="4114800" y="4197096"/>
            <a:ext cx="7525512" cy="566928"/>
          </a:xfrm>
          <a:prstGeom prst="roundRect">
            <a:avLst>
              <a:gd name="adj" fmla="val 12903"/>
            </a:avLst>
          </a:prstGeom>
          <a:solidFill>
            <a:srgbClr val="FFFFFF"/>
          </a:solidFill>
          <a:ln w="12700">
            <a:solidFill>
              <a:srgbClr val="E4E1DA"/>
            </a:solidFill>
            <a:prstDash val="solid"/>
          </a:ln>
        </p:spPr>
      </p:sp>
      <p:pic>
        <p:nvPicPr>
          <p:cNvPr id="27" name="Image 5" descr="icon_check.png"/>
          <p:cNvPicPr>
            <a:picLocks noChangeAspect="1"/>
          </p:cNvPicPr>
          <p:nvPr/>
        </p:nvPicPr>
        <p:blipFill>
          <a:blip r:embed="rId4"/>
          <a:stretch>
            <a:fillRect/>
          </a:stretch>
        </p:blipFill>
        <p:spPr>
          <a:xfrm>
            <a:off x="4279392" y="4334256"/>
            <a:ext cx="292608" cy="292608"/>
          </a:xfrm>
          <a:prstGeom prst="rect">
            <a:avLst/>
          </a:prstGeom>
        </p:spPr>
      </p:pic>
      <p:sp>
        <p:nvSpPr>
          <p:cNvPr id="28" name="Text 20"/>
          <p:cNvSpPr/>
          <p:nvPr/>
        </p:nvSpPr>
        <p:spPr>
          <a:xfrm>
            <a:off x="4709160" y="4197096"/>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Technology stack finalized (React, FastAPI/Flask, MySQL, Pandas, Scikit-learn)</a:t>
            </a:r>
            <a:endParaRPr lang="en-US" sz="1230" dirty="0"/>
          </a:p>
        </p:txBody>
      </p:sp>
      <p:sp>
        <p:nvSpPr>
          <p:cNvPr id="29" name="Shape 21"/>
          <p:cNvSpPr/>
          <p:nvPr/>
        </p:nvSpPr>
        <p:spPr>
          <a:xfrm>
            <a:off x="4114800" y="4823460"/>
            <a:ext cx="7525512" cy="566928"/>
          </a:xfrm>
          <a:prstGeom prst="roundRect">
            <a:avLst>
              <a:gd name="adj" fmla="val 12903"/>
            </a:avLst>
          </a:prstGeom>
          <a:solidFill>
            <a:srgbClr val="FFFFFF"/>
          </a:solidFill>
          <a:ln w="12700">
            <a:solidFill>
              <a:srgbClr val="E4E1DA"/>
            </a:solidFill>
            <a:prstDash val="solid"/>
          </a:ln>
        </p:spPr>
      </p:sp>
      <p:pic>
        <p:nvPicPr>
          <p:cNvPr id="30" name="Image 6" descr="icon_check.png"/>
          <p:cNvPicPr>
            <a:picLocks noChangeAspect="1"/>
          </p:cNvPicPr>
          <p:nvPr/>
        </p:nvPicPr>
        <p:blipFill>
          <a:blip r:embed="rId4"/>
          <a:stretch>
            <a:fillRect/>
          </a:stretch>
        </p:blipFill>
        <p:spPr>
          <a:xfrm>
            <a:off x="4279392" y="4960620"/>
            <a:ext cx="292608" cy="292608"/>
          </a:xfrm>
          <a:prstGeom prst="rect">
            <a:avLst/>
          </a:prstGeom>
        </p:spPr>
      </p:pic>
      <p:sp>
        <p:nvSpPr>
          <p:cNvPr id="31" name="Text 22"/>
          <p:cNvSpPr/>
          <p:nvPr/>
        </p:nvSpPr>
        <p:spPr>
          <a:xfrm>
            <a:off x="4709160" y="4823460"/>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Low-fidelity UI wireframes for dashboard and data-entry forms completed</a:t>
            </a:r>
            <a:endParaRPr lang="en-US" sz="1230" dirty="0"/>
          </a:p>
        </p:txBody>
      </p:sp>
      <p:sp>
        <p:nvSpPr>
          <p:cNvPr id="32" name="Shape 23"/>
          <p:cNvSpPr/>
          <p:nvPr/>
        </p:nvSpPr>
        <p:spPr>
          <a:xfrm>
            <a:off x="4114800" y="5449824"/>
            <a:ext cx="7525512" cy="566928"/>
          </a:xfrm>
          <a:prstGeom prst="roundRect">
            <a:avLst>
              <a:gd name="adj" fmla="val 12903"/>
            </a:avLst>
          </a:prstGeom>
          <a:solidFill>
            <a:srgbClr val="FFFFFF"/>
          </a:solidFill>
          <a:ln w="12700">
            <a:solidFill>
              <a:srgbClr val="E4E1DA"/>
            </a:solidFill>
            <a:prstDash val="solid"/>
          </a:ln>
        </p:spPr>
      </p:sp>
      <p:pic>
        <p:nvPicPr>
          <p:cNvPr id="33" name="Image 7" descr="icon_check.png"/>
          <p:cNvPicPr>
            <a:picLocks noChangeAspect="1"/>
          </p:cNvPicPr>
          <p:nvPr/>
        </p:nvPicPr>
        <p:blipFill>
          <a:blip r:embed="rId4"/>
          <a:stretch>
            <a:fillRect/>
          </a:stretch>
        </p:blipFill>
        <p:spPr>
          <a:xfrm>
            <a:off x="4279392" y="5586984"/>
            <a:ext cx="292608" cy="292608"/>
          </a:xfrm>
          <a:prstGeom prst="rect">
            <a:avLst/>
          </a:prstGeom>
        </p:spPr>
      </p:pic>
      <p:sp>
        <p:nvSpPr>
          <p:cNvPr id="34" name="Text 24"/>
          <p:cNvSpPr/>
          <p:nvPr/>
        </p:nvSpPr>
        <p:spPr>
          <a:xfrm>
            <a:off x="4709160" y="5449824"/>
            <a:ext cx="6766560" cy="566928"/>
          </a:xfrm>
          <a:prstGeom prst="rect">
            <a:avLst/>
          </a:prstGeom>
          <a:noFill/>
          <a:ln/>
        </p:spPr>
        <p:txBody>
          <a:bodyPr wrap="square" rtlCol="0" anchor="ctr"/>
          <a:lstStyle/>
          <a:p>
            <a:pPr marL="0" indent="0">
              <a:lnSpc>
                <a:spcPct val="108000"/>
              </a:lnSpc>
              <a:buNone/>
            </a:pPr>
            <a:r>
              <a:rPr lang="en-US" sz="1230" dirty="0">
                <a:solidFill>
                  <a:srgbClr val="1E2024"/>
                </a:solidFill>
                <a:latin typeface="Calibri" pitchFamily="34" charset="0"/>
                <a:ea typeface="Calibri" pitchFamily="34" charset="-122"/>
                <a:cs typeface="Calibri" pitchFamily="34" charset="-120"/>
              </a:rPr>
              <a:t>Compliance / threshold-comparison logic designed on paper</a:t>
            </a:r>
            <a:endParaRPr lang="en-US" sz="1230" dirty="0"/>
          </a:p>
        </p:txBody>
      </p:sp>
      <p:sp>
        <p:nvSpPr>
          <p:cNvPr id="36" name="Text 26"/>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E33"/>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09  —  WORK PLAN</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F5F3EE"/>
                </a:solidFill>
                <a:latin typeface="Cambria" pitchFamily="34" charset="0"/>
                <a:ea typeface="Cambria" pitchFamily="34" charset="-122"/>
                <a:cs typeface="Cambria" pitchFamily="34" charset="-120"/>
              </a:rPr>
              <a:t>Roadmap to Completion</a:t>
            </a:r>
            <a:endParaRPr lang="en-US" sz="2900" dirty="0"/>
          </a:p>
        </p:txBody>
      </p:sp>
      <p:sp>
        <p:nvSpPr>
          <p:cNvPr id="4" name="Text 2"/>
          <p:cNvSpPr/>
          <p:nvPr/>
        </p:nvSpPr>
        <p:spPr>
          <a:xfrm>
            <a:off x="548640" y="1280160"/>
            <a:ext cx="9144000" cy="320040"/>
          </a:xfrm>
          <a:prstGeom prst="rect">
            <a:avLst/>
          </a:prstGeom>
          <a:noFill/>
          <a:ln/>
        </p:spPr>
        <p:txBody>
          <a:bodyPr wrap="square" rtlCol="0" anchor="ctr"/>
          <a:lstStyle/>
          <a:p>
            <a:pPr marL="0" indent="0">
              <a:buNone/>
            </a:pPr>
            <a:r>
              <a:rPr lang="en-US" sz="1300" i="1" dirty="0">
                <a:solidFill>
                  <a:srgbClr val="C9CDD1"/>
                </a:solidFill>
                <a:latin typeface="Calibri" pitchFamily="34" charset="0"/>
                <a:ea typeface="Calibri" pitchFamily="34" charset="-122"/>
                <a:cs typeface="Calibri" pitchFamily="34" charset="-120"/>
              </a:rPr>
              <a:t>Remaining work is organized into six phases leading up to the final review.</a:t>
            </a:r>
            <a:endParaRPr lang="en-US" sz="1300" dirty="0"/>
          </a:p>
        </p:txBody>
      </p:sp>
      <p:sp>
        <p:nvSpPr>
          <p:cNvPr id="5" name="Shape 3"/>
          <p:cNvSpPr/>
          <p:nvPr/>
        </p:nvSpPr>
        <p:spPr>
          <a:xfrm>
            <a:off x="548640" y="1828800"/>
            <a:ext cx="3520440" cy="1965960"/>
          </a:xfrm>
          <a:prstGeom prst="roundRect">
            <a:avLst>
              <a:gd name="adj" fmla="val 4651"/>
            </a:avLst>
          </a:prstGeom>
          <a:solidFill>
            <a:srgbClr val="EA6A12"/>
          </a:solidFill>
          <a:ln/>
        </p:spPr>
      </p:sp>
      <p:sp>
        <p:nvSpPr>
          <p:cNvPr id="6" name="Text 4"/>
          <p:cNvSpPr/>
          <p:nvPr/>
        </p:nvSpPr>
        <p:spPr>
          <a:xfrm>
            <a:off x="777240" y="2011680"/>
            <a:ext cx="3063240" cy="274320"/>
          </a:xfrm>
          <a:prstGeom prst="rect">
            <a:avLst/>
          </a:prstGeom>
          <a:noFill/>
          <a:ln/>
        </p:spPr>
        <p:txBody>
          <a:bodyPr wrap="square" rtlCol="0" anchor="ctr"/>
          <a:lstStyle/>
          <a:p>
            <a:pPr marL="0" indent="0">
              <a:buNone/>
            </a:pPr>
            <a:r>
              <a:rPr lang="en-US" sz="1100" b="1" kern="0" spc="150" dirty="0">
                <a:solidFill>
                  <a:srgbClr val="FFEDE0"/>
                </a:solidFill>
                <a:latin typeface="Calibri" pitchFamily="34" charset="0"/>
                <a:ea typeface="Calibri" pitchFamily="34" charset="-122"/>
                <a:cs typeface="Calibri" pitchFamily="34" charset="-120"/>
              </a:rPr>
              <a:t>PHASE 1</a:t>
            </a:r>
            <a:endParaRPr lang="en-US" sz="1100" dirty="0"/>
          </a:p>
        </p:txBody>
      </p:sp>
      <p:sp>
        <p:nvSpPr>
          <p:cNvPr id="7" name="Text 5"/>
          <p:cNvSpPr/>
          <p:nvPr/>
        </p:nvSpPr>
        <p:spPr>
          <a:xfrm>
            <a:off x="777240" y="2331720"/>
            <a:ext cx="3063240" cy="868680"/>
          </a:xfrm>
          <a:prstGeom prst="rect">
            <a:avLst/>
          </a:prstGeom>
          <a:noFill/>
          <a:ln/>
        </p:spPr>
        <p:txBody>
          <a:bodyPr wrap="square" rtlCol="0" anchor="ctr"/>
          <a:lstStyle/>
          <a:p>
            <a:pPr marL="0" indent="0">
              <a:lnSpc>
                <a:spcPct val="110000"/>
              </a:lnSpc>
              <a:buNone/>
            </a:pPr>
            <a:r>
              <a:rPr lang="en-US" sz="1500" b="1" dirty="0">
                <a:solidFill>
                  <a:srgbClr val="F5F3EE"/>
                </a:solidFill>
                <a:latin typeface="Cambria" pitchFamily="34" charset="0"/>
                <a:ea typeface="Cambria" pitchFamily="34" charset="-122"/>
                <a:cs typeface="Cambria" pitchFamily="34" charset="-120"/>
              </a:rPr>
              <a:t>Requirement Analysis &amp; Design</a:t>
            </a:r>
            <a:endParaRPr lang="en-US" sz="1500" dirty="0"/>
          </a:p>
        </p:txBody>
      </p:sp>
      <p:sp>
        <p:nvSpPr>
          <p:cNvPr id="8" name="Shape 6"/>
          <p:cNvSpPr/>
          <p:nvPr/>
        </p:nvSpPr>
        <p:spPr>
          <a:xfrm>
            <a:off x="777240" y="3291840"/>
            <a:ext cx="3063240" cy="320040"/>
          </a:xfrm>
          <a:prstGeom prst="roundRect">
            <a:avLst>
              <a:gd name="adj" fmla="val 17143"/>
            </a:avLst>
          </a:prstGeom>
          <a:solidFill>
            <a:srgbClr val="FFFFFF"/>
          </a:solidFill>
          <a:ln/>
        </p:spPr>
      </p:sp>
      <p:sp>
        <p:nvSpPr>
          <p:cNvPr id="9" name="Text 7"/>
          <p:cNvSpPr/>
          <p:nvPr/>
        </p:nvSpPr>
        <p:spPr>
          <a:xfrm>
            <a:off x="777240" y="3291840"/>
            <a:ext cx="3063240" cy="320040"/>
          </a:xfrm>
          <a:prstGeom prst="rect">
            <a:avLst/>
          </a:prstGeom>
          <a:noFill/>
          <a:ln/>
        </p:spPr>
        <p:txBody>
          <a:bodyPr wrap="square" rtlCol="0" anchor="ctr"/>
          <a:lstStyle/>
          <a:p>
            <a:pPr marL="0" indent="0" algn="ctr">
              <a:buNone/>
            </a:pPr>
            <a:r>
              <a:rPr lang="en-US" sz="1200" b="1" dirty="0">
                <a:solidFill>
                  <a:srgbClr val="EA6A12"/>
                </a:solidFill>
                <a:latin typeface="Calibri" pitchFamily="34" charset="0"/>
                <a:ea typeface="Calibri" pitchFamily="34" charset="-122"/>
                <a:cs typeface="Calibri" pitchFamily="34" charset="-120"/>
              </a:rPr>
              <a:t>Completed</a:t>
            </a:r>
            <a:endParaRPr lang="en-US" sz="1200" dirty="0"/>
          </a:p>
        </p:txBody>
      </p:sp>
      <p:sp>
        <p:nvSpPr>
          <p:cNvPr id="10" name="Shape 8"/>
          <p:cNvSpPr/>
          <p:nvPr/>
        </p:nvSpPr>
        <p:spPr>
          <a:xfrm>
            <a:off x="4325112" y="1828800"/>
            <a:ext cx="3520440" cy="1965960"/>
          </a:xfrm>
          <a:prstGeom prst="roundRect">
            <a:avLst>
              <a:gd name="adj" fmla="val 4651"/>
            </a:avLst>
          </a:prstGeom>
          <a:solidFill>
            <a:srgbClr val="35393F"/>
          </a:solidFill>
          <a:ln/>
        </p:spPr>
      </p:sp>
      <p:sp>
        <p:nvSpPr>
          <p:cNvPr id="11" name="Text 9"/>
          <p:cNvSpPr/>
          <p:nvPr/>
        </p:nvSpPr>
        <p:spPr>
          <a:xfrm>
            <a:off x="4553712" y="2011680"/>
            <a:ext cx="3063240" cy="274320"/>
          </a:xfrm>
          <a:prstGeom prst="rect">
            <a:avLst/>
          </a:prstGeom>
          <a:noFill/>
          <a:ln/>
        </p:spPr>
        <p:txBody>
          <a:bodyPr wrap="square" rtlCol="0" anchor="ctr"/>
          <a:lstStyle/>
          <a:p>
            <a:pPr marL="0" indent="0">
              <a:buNone/>
            </a:pPr>
            <a:r>
              <a:rPr lang="en-US" sz="1100" b="1" kern="0" spc="150" dirty="0">
                <a:solidFill>
                  <a:srgbClr val="EA6A12"/>
                </a:solidFill>
                <a:latin typeface="Calibri" pitchFamily="34" charset="0"/>
                <a:ea typeface="Calibri" pitchFamily="34" charset="-122"/>
                <a:cs typeface="Calibri" pitchFamily="34" charset="-120"/>
              </a:rPr>
              <a:t>PHASE 2</a:t>
            </a:r>
            <a:endParaRPr lang="en-US" sz="1100" dirty="0"/>
          </a:p>
        </p:txBody>
      </p:sp>
      <p:sp>
        <p:nvSpPr>
          <p:cNvPr id="12" name="Text 10"/>
          <p:cNvSpPr/>
          <p:nvPr/>
        </p:nvSpPr>
        <p:spPr>
          <a:xfrm>
            <a:off x="4553712" y="2331720"/>
            <a:ext cx="3063240" cy="868680"/>
          </a:xfrm>
          <a:prstGeom prst="rect">
            <a:avLst/>
          </a:prstGeom>
          <a:noFill/>
          <a:ln/>
        </p:spPr>
        <p:txBody>
          <a:bodyPr wrap="square" rtlCol="0" anchor="ctr"/>
          <a:lstStyle/>
          <a:p>
            <a:pPr marL="0" indent="0">
              <a:lnSpc>
                <a:spcPct val="110000"/>
              </a:lnSpc>
              <a:buNone/>
            </a:pPr>
            <a:r>
              <a:rPr lang="en-US" sz="1500" b="1" dirty="0">
                <a:solidFill>
                  <a:srgbClr val="F5F3EE"/>
                </a:solidFill>
                <a:latin typeface="Cambria" pitchFamily="34" charset="0"/>
                <a:ea typeface="Cambria" pitchFamily="34" charset="-122"/>
                <a:cs typeface="Cambria" pitchFamily="34" charset="-120"/>
              </a:rPr>
              <a:t>Database &amp; Backend Development</a:t>
            </a:r>
            <a:endParaRPr lang="en-US" sz="1500" dirty="0"/>
          </a:p>
        </p:txBody>
      </p:sp>
      <p:sp>
        <p:nvSpPr>
          <p:cNvPr id="13" name="Shape 11"/>
          <p:cNvSpPr/>
          <p:nvPr/>
        </p:nvSpPr>
        <p:spPr>
          <a:xfrm>
            <a:off x="4553712" y="3291840"/>
            <a:ext cx="3063240" cy="320040"/>
          </a:xfrm>
          <a:prstGeom prst="roundRect">
            <a:avLst>
              <a:gd name="adj" fmla="val 17143"/>
            </a:avLst>
          </a:prstGeom>
          <a:solidFill>
            <a:srgbClr val="23262B"/>
          </a:solidFill>
          <a:ln/>
        </p:spPr>
      </p:sp>
      <p:sp>
        <p:nvSpPr>
          <p:cNvPr id="14" name="Text 12"/>
          <p:cNvSpPr/>
          <p:nvPr/>
        </p:nvSpPr>
        <p:spPr>
          <a:xfrm>
            <a:off x="4553712" y="3291840"/>
            <a:ext cx="3063240" cy="320040"/>
          </a:xfrm>
          <a:prstGeom prst="rect">
            <a:avLst/>
          </a:prstGeom>
          <a:noFill/>
          <a:ln/>
        </p:spPr>
        <p:txBody>
          <a:bodyPr wrap="square" rtlCol="0" anchor="ctr"/>
          <a:lstStyle/>
          <a:p>
            <a:pPr marL="0" indent="0" algn="ctr">
              <a:buNone/>
            </a:pPr>
            <a:r>
              <a:rPr lang="en-US" sz="1200" b="1" dirty="0">
                <a:solidFill>
                  <a:srgbClr val="E4E6E8"/>
                </a:solidFill>
                <a:latin typeface="Calibri" pitchFamily="34" charset="0"/>
                <a:ea typeface="Calibri" pitchFamily="34" charset="-122"/>
                <a:cs typeface="Calibri" pitchFamily="34" charset="-120"/>
              </a:rPr>
              <a:t>Weeks 3–5</a:t>
            </a:r>
            <a:endParaRPr lang="en-US" sz="1200" dirty="0"/>
          </a:p>
        </p:txBody>
      </p:sp>
      <p:sp>
        <p:nvSpPr>
          <p:cNvPr id="15" name="Shape 13"/>
          <p:cNvSpPr/>
          <p:nvPr/>
        </p:nvSpPr>
        <p:spPr>
          <a:xfrm>
            <a:off x="8101584" y="1828800"/>
            <a:ext cx="3520440" cy="1965960"/>
          </a:xfrm>
          <a:prstGeom prst="roundRect">
            <a:avLst>
              <a:gd name="adj" fmla="val 4651"/>
            </a:avLst>
          </a:prstGeom>
          <a:solidFill>
            <a:srgbClr val="35393F"/>
          </a:solidFill>
          <a:ln/>
        </p:spPr>
      </p:sp>
      <p:sp>
        <p:nvSpPr>
          <p:cNvPr id="16" name="Text 14"/>
          <p:cNvSpPr/>
          <p:nvPr/>
        </p:nvSpPr>
        <p:spPr>
          <a:xfrm>
            <a:off x="8330184" y="2011680"/>
            <a:ext cx="3063240" cy="274320"/>
          </a:xfrm>
          <a:prstGeom prst="rect">
            <a:avLst/>
          </a:prstGeom>
          <a:noFill/>
          <a:ln/>
        </p:spPr>
        <p:txBody>
          <a:bodyPr wrap="square" rtlCol="0" anchor="ctr"/>
          <a:lstStyle/>
          <a:p>
            <a:pPr marL="0" indent="0">
              <a:buNone/>
            </a:pPr>
            <a:r>
              <a:rPr lang="en-US" sz="1100" b="1" kern="0" spc="150" dirty="0">
                <a:solidFill>
                  <a:srgbClr val="EA6A12"/>
                </a:solidFill>
                <a:latin typeface="Calibri" pitchFamily="34" charset="0"/>
                <a:ea typeface="Calibri" pitchFamily="34" charset="-122"/>
                <a:cs typeface="Calibri" pitchFamily="34" charset="-120"/>
              </a:rPr>
              <a:t>PHASE 3</a:t>
            </a:r>
            <a:endParaRPr lang="en-US" sz="1100" dirty="0"/>
          </a:p>
        </p:txBody>
      </p:sp>
      <p:sp>
        <p:nvSpPr>
          <p:cNvPr id="17" name="Text 15"/>
          <p:cNvSpPr/>
          <p:nvPr/>
        </p:nvSpPr>
        <p:spPr>
          <a:xfrm>
            <a:off x="8330184" y="2331720"/>
            <a:ext cx="3063240" cy="868680"/>
          </a:xfrm>
          <a:prstGeom prst="rect">
            <a:avLst/>
          </a:prstGeom>
          <a:noFill/>
          <a:ln/>
        </p:spPr>
        <p:txBody>
          <a:bodyPr wrap="square" rtlCol="0" anchor="ctr"/>
          <a:lstStyle/>
          <a:p>
            <a:pPr marL="0" indent="0">
              <a:lnSpc>
                <a:spcPct val="110000"/>
              </a:lnSpc>
              <a:buNone/>
            </a:pPr>
            <a:r>
              <a:rPr lang="en-US" sz="1500" b="1" dirty="0">
                <a:solidFill>
                  <a:srgbClr val="F5F3EE"/>
                </a:solidFill>
                <a:latin typeface="Cambria" pitchFamily="34" charset="0"/>
                <a:ea typeface="Cambria" pitchFamily="34" charset="-122"/>
                <a:cs typeface="Cambria" pitchFamily="34" charset="-120"/>
              </a:rPr>
              <a:t>Frontend &amp; Dashboard Development</a:t>
            </a:r>
            <a:endParaRPr lang="en-US" sz="1500" dirty="0"/>
          </a:p>
        </p:txBody>
      </p:sp>
      <p:sp>
        <p:nvSpPr>
          <p:cNvPr id="18" name="Shape 16"/>
          <p:cNvSpPr/>
          <p:nvPr/>
        </p:nvSpPr>
        <p:spPr>
          <a:xfrm>
            <a:off x="8330184" y="3291840"/>
            <a:ext cx="3063240" cy="320040"/>
          </a:xfrm>
          <a:prstGeom prst="roundRect">
            <a:avLst>
              <a:gd name="adj" fmla="val 17143"/>
            </a:avLst>
          </a:prstGeom>
          <a:solidFill>
            <a:srgbClr val="23262B"/>
          </a:solidFill>
          <a:ln/>
        </p:spPr>
      </p:sp>
      <p:sp>
        <p:nvSpPr>
          <p:cNvPr id="19" name="Text 17"/>
          <p:cNvSpPr/>
          <p:nvPr/>
        </p:nvSpPr>
        <p:spPr>
          <a:xfrm>
            <a:off x="8330184" y="3291840"/>
            <a:ext cx="3063240" cy="320040"/>
          </a:xfrm>
          <a:prstGeom prst="rect">
            <a:avLst/>
          </a:prstGeom>
          <a:noFill/>
          <a:ln/>
        </p:spPr>
        <p:txBody>
          <a:bodyPr wrap="square" rtlCol="0" anchor="ctr"/>
          <a:lstStyle/>
          <a:p>
            <a:pPr marL="0" indent="0" algn="ctr">
              <a:buNone/>
            </a:pPr>
            <a:r>
              <a:rPr lang="en-US" sz="1200" b="1" dirty="0">
                <a:solidFill>
                  <a:srgbClr val="E4E6E8"/>
                </a:solidFill>
                <a:latin typeface="Calibri" pitchFamily="34" charset="0"/>
                <a:ea typeface="Calibri" pitchFamily="34" charset="-122"/>
                <a:cs typeface="Calibri" pitchFamily="34" charset="-120"/>
              </a:rPr>
              <a:t>Weeks 6–8</a:t>
            </a:r>
            <a:endParaRPr lang="en-US" sz="1200" dirty="0"/>
          </a:p>
        </p:txBody>
      </p:sp>
      <p:sp>
        <p:nvSpPr>
          <p:cNvPr id="20" name="Shape 18"/>
          <p:cNvSpPr/>
          <p:nvPr/>
        </p:nvSpPr>
        <p:spPr>
          <a:xfrm>
            <a:off x="548640" y="4050792"/>
            <a:ext cx="3520440" cy="1965960"/>
          </a:xfrm>
          <a:prstGeom prst="roundRect">
            <a:avLst>
              <a:gd name="adj" fmla="val 4651"/>
            </a:avLst>
          </a:prstGeom>
          <a:solidFill>
            <a:srgbClr val="35393F"/>
          </a:solidFill>
          <a:ln/>
        </p:spPr>
      </p:sp>
      <p:sp>
        <p:nvSpPr>
          <p:cNvPr id="21" name="Text 19"/>
          <p:cNvSpPr/>
          <p:nvPr/>
        </p:nvSpPr>
        <p:spPr>
          <a:xfrm>
            <a:off x="777240" y="4233672"/>
            <a:ext cx="3063240" cy="274320"/>
          </a:xfrm>
          <a:prstGeom prst="rect">
            <a:avLst/>
          </a:prstGeom>
          <a:noFill/>
          <a:ln/>
        </p:spPr>
        <p:txBody>
          <a:bodyPr wrap="square" rtlCol="0" anchor="ctr"/>
          <a:lstStyle/>
          <a:p>
            <a:pPr marL="0" indent="0">
              <a:buNone/>
            </a:pPr>
            <a:r>
              <a:rPr lang="en-US" sz="1100" b="1" kern="0" spc="150" dirty="0">
                <a:solidFill>
                  <a:srgbClr val="EA6A12"/>
                </a:solidFill>
                <a:latin typeface="Calibri" pitchFamily="34" charset="0"/>
                <a:ea typeface="Calibri" pitchFamily="34" charset="-122"/>
                <a:cs typeface="Calibri" pitchFamily="34" charset="-120"/>
              </a:rPr>
              <a:t>PHASE 4</a:t>
            </a:r>
            <a:endParaRPr lang="en-US" sz="1100" dirty="0"/>
          </a:p>
        </p:txBody>
      </p:sp>
      <p:sp>
        <p:nvSpPr>
          <p:cNvPr id="22" name="Text 20"/>
          <p:cNvSpPr/>
          <p:nvPr/>
        </p:nvSpPr>
        <p:spPr>
          <a:xfrm>
            <a:off x="777240" y="4553712"/>
            <a:ext cx="3063240" cy="868680"/>
          </a:xfrm>
          <a:prstGeom prst="rect">
            <a:avLst/>
          </a:prstGeom>
          <a:noFill/>
          <a:ln/>
        </p:spPr>
        <p:txBody>
          <a:bodyPr wrap="square" rtlCol="0" anchor="ctr"/>
          <a:lstStyle/>
          <a:p>
            <a:pPr marL="0" indent="0">
              <a:lnSpc>
                <a:spcPct val="110000"/>
              </a:lnSpc>
              <a:buNone/>
            </a:pPr>
            <a:r>
              <a:rPr lang="en-US" sz="1500" b="1" dirty="0">
                <a:solidFill>
                  <a:srgbClr val="F5F3EE"/>
                </a:solidFill>
                <a:latin typeface="Cambria" pitchFamily="34" charset="0"/>
                <a:ea typeface="Cambria" pitchFamily="34" charset="-122"/>
                <a:cs typeface="Cambria" pitchFamily="34" charset="-120"/>
              </a:rPr>
              <a:t>Compliance Engine, Alerts &amp; Reports</a:t>
            </a:r>
            <a:endParaRPr lang="en-US" sz="1500" dirty="0"/>
          </a:p>
        </p:txBody>
      </p:sp>
      <p:sp>
        <p:nvSpPr>
          <p:cNvPr id="23" name="Shape 21"/>
          <p:cNvSpPr/>
          <p:nvPr/>
        </p:nvSpPr>
        <p:spPr>
          <a:xfrm>
            <a:off x="777240" y="5513832"/>
            <a:ext cx="3063240" cy="320040"/>
          </a:xfrm>
          <a:prstGeom prst="roundRect">
            <a:avLst>
              <a:gd name="adj" fmla="val 17143"/>
            </a:avLst>
          </a:prstGeom>
          <a:solidFill>
            <a:srgbClr val="23262B"/>
          </a:solidFill>
          <a:ln/>
        </p:spPr>
      </p:sp>
      <p:sp>
        <p:nvSpPr>
          <p:cNvPr id="24" name="Text 22"/>
          <p:cNvSpPr/>
          <p:nvPr/>
        </p:nvSpPr>
        <p:spPr>
          <a:xfrm>
            <a:off x="777240" y="5513832"/>
            <a:ext cx="3063240" cy="320040"/>
          </a:xfrm>
          <a:prstGeom prst="rect">
            <a:avLst/>
          </a:prstGeom>
          <a:noFill/>
          <a:ln/>
        </p:spPr>
        <p:txBody>
          <a:bodyPr wrap="square" rtlCol="0" anchor="ctr"/>
          <a:lstStyle/>
          <a:p>
            <a:pPr marL="0" indent="0" algn="ctr">
              <a:buNone/>
            </a:pPr>
            <a:r>
              <a:rPr lang="en-US" sz="1200" b="1" dirty="0">
                <a:solidFill>
                  <a:srgbClr val="E4E6E8"/>
                </a:solidFill>
                <a:latin typeface="Calibri" pitchFamily="34" charset="0"/>
                <a:ea typeface="Calibri" pitchFamily="34" charset="-122"/>
                <a:cs typeface="Calibri" pitchFamily="34" charset="-120"/>
              </a:rPr>
              <a:t>Weeks 9–10</a:t>
            </a:r>
            <a:endParaRPr lang="en-US" sz="1200" dirty="0"/>
          </a:p>
        </p:txBody>
      </p:sp>
      <p:sp>
        <p:nvSpPr>
          <p:cNvPr id="25" name="Shape 23"/>
          <p:cNvSpPr/>
          <p:nvPr/>
        </p:nvSpPr>
        <p:spPr>
          <a:xfrm>
            <a:off x="4325112" y="4050792"/>
            <a:ext cx="3520440" cy="1965960"/>
          </a:xfrm>
          <a:prstGeom prst="roundRect">
            <a:avLst>
              <a:gd name="adj" fmla="val 4651"/>
            </a:avLst>
          </a:prstGeom>
          <a:solidFill>
            <a:srgbClr val="35393F"/>
          </a:solidFill>
          <a:ln/>
        </p:spPr>
      </p:sp>
      <p:sp>
        <p:nvSpPr>
          <p:cNvPr id="26" name="Text 24"/>
          <p:cNvSpPr/>
          <p:nvPr/>
        </p:nvSpPr>
        <p:spPr>
          <a:xfrm>
            <a:off x="4553712" y="4233672"/>
            <a:ext cx="3063240" cy="274320"/>
          </a:xfrm>
          <a:prstGeom prst="rect">
            <a:avLst/>
          </a:prstGeom>
          <a:noFill/>
          <a:ln/>
        </p:spPr>
        <p:txBody>
          <a:bodyPr wrap="square" rtlCol="0" anchor="ctr"/>
          <a:lstStyle/>
          <a:p>
            <a:pPr marL="0" indent="0">
              <a:buNone/>
            </a:pPr>
            <a:r>
              <a:rPr lang="en-US" sz="1100" b="1" kern="0" spc="150" dirty="0">
                <a:solidFill>
                  <a:srgbClr val="EA6A12"/>
                </a:solidFill>
                <a:latin typeface="Calibri" pitchFamily="34" charset="0"/>
                <a:ea typeface="Calibri" pitchFamily="34" charset="-122"/>
                <a:cs typeface="Calibri" pitchFamily="34" charset="-120"/>
              </a:rPr>
              <a:t>PHASE 5</a:t>
            </a:r>
            <a:endParaRPr lang="en-US" sz="1100" dirty="0"/>
          </a:p>
        </p:txBody>
      </p:sp>
      <p:sp>
        <p:nvSpPr>
          <p:cNvPr id="27" name="Text 25"/>
          <p:cNvSpPr/>
          <p:nvPr/>
        </p:nvSpPr>
        <p:spPr>
          <a:xfrm>
            <a:off x="4553712" y="4553712"/>
            <a:ext cx="3063240" cy="868680"/>
          </a:xfrm>
          <a:prstGeom prst="rect">
            <a:avLst/>
          </a:prstGeom>
          <a:noFill/>
          <a:ln/>
        </p:spPr>
        <p:txBody>
          <a:bodyPr wrap="square" rtlCol="0" anchor="ctr"/>
          <a:lstStyle/>
          <a:p>
            <a:pPr marL="0" indent="0">
              <a:lnSpc>
                <a:spcPct val="110000"/>
              </a:lnSpc>
              <a:buNone/>
            </a:pPr>
            <a:r>
              <a:rPr lang="en-US" sz="1500" b="1" dirty="0">
                <a:solidFill>
                  <a:srgbClr val="F5F3EE"/>
                </a:solidFill>
                <a:latin typeface="Cambria" pitchFamily="34" charset="0"/>
                <a:ea typeface="Cambria" pitchFamily="34" charset="-122"/>
                <a:cs typeface="Cambria" pitchFamily="34" charset="-120"/>
              </a:rPr>
              <a:t>AI Anomaly Detection Module</a:t>
            </a:r>
            <a:endParaRPr lang="en-US" sz="1500" dirty="0"/>
          </a:p>
        </p:txBody>
      </p:sp>
      <p:sp>
        <p:nvSpPr>
          <p:cNvPr id="28" name="Shape 26"/>
          <p:cNvSpPr/>
          <p:nvPr/>
        </p:nvSpPr>
        <p:spPr>
          <a:xfrm>
            <a:off x="4553712" y="5513832"/>
            <a:ext cx="3063240" cy="320040"/>
          </a:xfrm>
          <a:prstGeom prst="roundRect">
            <a:avLst>
              <a:gd name="adj" fmla="val 17143"/>
            </a:avLst>
          </a:prstGeom>
          <a:solidFill>
            <a:srgbClr val="23262B"/>
          </a:solidFill>
          <a:ln/>
        </p:spPr>
      </p:sp>
      <p:sp>
        <p:nvSpPr>
          <p:cNvPr id="29" name="Text 27"/>
          <p:cNvSpPr/>
          <p:nvPr/>
        </p:nvSpPr>
        <p:spPr>
          <a:xfrm>
            <a:off x="4553712" y="5513832"/>
            <a:ext cx="3063240" cy="320040"/>
          </a:xfrm>
          <a:prstGeom prst="rect">
            <a:avLst/>
          </a:prstGeom>
          <a:noFill/>
          <a:ln/>
        </p:spPr>
        <p:txBody>
          <a:bodyPr wrap="square" rtlCol="0" anchor="ctr"/>
          <a:lstStyle/>
          <a:p>
            <a:pPr marL="0" indent="0" algn="ctr">
              <a:buNone/>
            </a:pPr>
            <a:r>
              <a:rPr lang="en-US" sz="1200" b="1" dirty="0">
                <a:solidFill>
                  <a:srgbClr val="E4E6E8"/>
                </a:solidFill>
                <a:latin typeface="Calibri" pitchFamily="34" charset="0"/>
                <a:ea typeface="Calibri" pitchFamily="34" charset="-122"/>
                <a:cs typeface="Calibri" pitchFamily="34" charset="-120"/>
              </a:rPr>
              <a:t>Weeks 11–12</a:t>
            </a:r>
            <a:endParaRPr lang="en-US" sz="1200" dirty="0"/>
          </a:p>
        </p:txBody>
      </p:sp>
      <p:sp>
        <p:nvSpPr>
          <p:cNvPr id="30" name="Shape 28"/>
          <p:cNvSpPr/>
          <p:nvPr/>
        </p:nvSpPr>
        <p:spPr>
          <a:xfrm>
            <a:off x="8101584" y="4050792"/>
            <a:ext cx="3520440" cy="1965960"/>
          </a:xfrm>
          <a:prstGeom prst="roundRect">
            <a:avLst>
              <a:gd name="adj" fmla="val 4651"/>
            </a:avLst>
          </a:prstGeom>
          <a:solidFill>
            <a:srgbClr val="35393F"/>
          </a:solidFill>
          <a:ln/>
        </p:spPr>
      </p:sp>
      <p:sp>
        <p:nvSpPr>
          <p:cNvPr id="31" name="Text 29"/>
          <p:cNvSpPr/>
          <p:nvPr/>
        </p:nvSpPr>
        <p:spPr>
          <a:xfrm>
            <a:off x="8330184" y="4233672"/>
            <a:ext cx="3063240" cy="274320"/>
          </a:xfrm>
          <a:prstGeom prst="rect">
            <a:avLst/>
          </a:prstGeom>
          <a:noFill/>
          <a:ln/>
        </p:spPr>
        <p:txBody>
          <a:bodyPr wrap="square" rtlCol="0" anchor="ctr"/>
          <a:lstStyle/>
          <a:p>
            <a:pPr marL="0" indent="0">
              <a:buNone/>
            </a:pPr>
            <a:r>
              <a:rPr lang="en-US" sz="1100" b="1" kern="0" spc="150" dirty="0">
                <a:solidFill>
                  <a:srgbClr val="EA6A12"/>
                </a:solidFill>
                <a:latin typeface="Calibri" pitchFamily="34" charset="0"/>
                <a:ea typeface="Calibri" pitchFamily="34" charset="-122"/>
                <a:cs typeface="Calibri" pitchFamily="34" charset="-120"/>
              </a:rPr>
              <a:t>PHASE 6</a:t>
            </a:r>
            <a:endParaRPr lang="en-US" sz="1100" dirty="0"/>
          </a:p>
        </p:txBody>
      </p:sp>
      <p:sp>
        <p:nvSpPr>
          <p:cNvPr id="32" name="Text 30"/>
          <p:cNvSpPr/>
          <p:nvPr/>
        </p:nvSpPr>
        <p:spPr>
          <a:xfrm>
            <a:off x="8330184" y="4553712"/>
            <a:ext cx="3063240" cy="868680"/>
          </a:xfrm>
          <a:prstGeom prst="rect">
            <a:avLst/>
          </a:prstGeom>
          <a:noFill/>
          <a:ln/>
        </p:spPr>
        <p:txBody>
          <a:bodyPr wrap="square" rtlCol="0" anchor="ctr"/>
          <a:lstStyle/>
          <a:p>
            <a:pPr marL="0" indent="0">
              <a:lnSpc>
                <a:spcPct val="110000"/>
              </a:lnSpc>
              <a:buNone/>
            </a:pPr>
            <a:r>
              <a:rPr lang="en-US" sz="1500" b="1" dirty="0">
                <a:solidFill>
                  <a:srgbClr val="F5F3EE"/>
                </a:solidFill>
                <a:latin typeface="Cambria" pitchFamily="34" charset="0"/>
                <a:ea typeface="Cambria" pitchFamily="34" charset="-122"/>
                <a:cs typeface="Cambria" pitchFamily="34" charset="-120"/>
              </a:rPr>
              <a:t>Testing, Integration &amp; Final Review</a:t>
            </a:r>
            <a:endParaRPr lang="en-US" sz="1500" dirty="0"/>
          </a:p>
        </p:txBody>
      </p:sp>
      <p:sp>
        <p:nvSpPr>
          <p:cNvPr id="33" name="Shape 31"/>
          <p:cNvSpPr/>
          <p:nvPr/>
        </p:nvSpPr>
        <p:spPr>
          <a:xfrm>
            <a:off x="8330184" y="5513832"/>
            <a:ext cx="3063240" cy="320040"/>
          </a:xfrm>
          <a:prstGeom prst="roundRect">
            <a:avLst>
              <a:gd name="adj" fmla="val 17143"/>
            </a:avLst>
          </a:prstGeom>
          <a:solidFill>
            <a:srgbClr val="23262B"/>
          </a:solidFill>
          <a:ln/>
        </p:spPr>
      </p:sp>
      <p:sp>
        <p:nvSpPr>
          <p:cNvPr id="34" name="Text 32"/>
          <p:cNvSpPr/>
          <p:nvPr/>
        </p:nvSpPr>
        <p:spPr>
          <a:xfrm>
            <a:off x="8330184" y="5513832"/>
            <a:ext cx="3063240" cy="320040"/>
          </a:xfrm>
          <a:prstGeom prst="rect">
            <a:avLst/>
          </a:prstGeom>
          <a:noFill/>
          <a:ln/>
        </p:spPr>
        <p:txBody>
          <a:bodyPr wrap="square" rtlCol="0" anchor="ctr"/>
          <a:lstStyle/>
          <a:p>
            <a:pPr marL="0" indent="0" algn="ctr">
              <a:buNone/>
            </a:pPr>
            <a:r>
              <a:rPr lang="en-US" sz="1200" b="1" dirty="0">
                <a:solidFill>
                  <a:srgbClr val="E4E6E8"/>
                </a:solidFill>
                <a:latin typeface="Calibri" pitchFamily="34" charset="0"/>
                <a:ea typeface="Calibri" pitchFamily="34" charset="-122"/>
                <a:cs typeface="Calibri" pitchFamily="34" charset="-120"/>
              </a:rPr>
              <a:t>Weeks 13–14</a:t>
            </a:r>
            <a:endParaRPr lang="en-US" sz="1200" dirty="0"/>
          </a:p>
        </p:txBody>
      </p:sp>
      <p:sp>
        <p:nvSpPr>
          <p:cNvPr id="36" name="Text 34"/>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C9CDD1"/>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EA6A12"/>
                </a:solidFill>
                <a:latin typeface="Calibri" pitchFamily="34" charset="0"/>
                <a:ea typeface="Calibri" pitchFamily="34" charset="-122"/>
                <a:cs typeface="Calibri" pitchFamily="34" charset="-120"/>
              </a:rPr>
              <a:t>10  —  EXPECTED OUTCOMES</a:t>
            </a:r>
            <a:endParaRPr lang="en-US" sz="1200" dirty="0"/>
          </a:p>
        </p:txBody>
      </p:sp>
      <p:sp>
        <p:nvSpPr>
          <p:cNvPr id="3" name="Text 1"/>
          <p:cNvSpPr/>
          <p:nvPr/>
        </p:nvSpPr>
        <p:spPr>
          <a:xfrm>
            <a:off x="548640" y="658368"/>
            <a:ext cx="9601200" cy="594360"/>
          </a:xfrm>
          <a:prstGeom prst="rect">
            <a:avLst/>
          </a:prstGeom>
          <a:noFill/>
          <a:ln/>
        </p:spPr>
        <p:txBody>
          <a:bodyPr wrap="square" rtlCol="0" anchor="ctr"/>
          <a:lstStyle/>
          <a:p>
            <a:pPr marL="0" indent="0">
              <a:buNone/>
            </a:pPr>
            <a:r>
              <a:rPr lang="en-US" sz="2900" b="1" dirty="0">
                <a:solidFill>
                  <a:srgbClr val="2B2E33"/>
                </a:solidFill>
                <a:latin typeface="Cambria" pitchFamily="34" charset="0"/>
                <a:ea typeface="Cambria" pitchFamily="34" charset="-122"/>
                <a:cs typeface="Cambria" pitchFamily="34" charset="-120"/>
              </a:rPr>
              <a:t>What the Final Software Will Deliver</a:t>
            </a:r>
            <a:endParaRPr lang="en-US" sz="2900" dirty="0"/>
          </a:p>
        </p:txBody>
      </p:sp>
      <p:sp>
        <p:nvSpPr>
          <p:cNvPr id="4" name="Shape 2"/>
          <p:cNvSpPr/>
          <p:nvPr/>
        </p:nvSpPr>
        <p:spPr>
          <a:xfrm>
            <a:off x="548640" y="1600200"/>
            <a:ext cx="5120640" cy="548640"/>
          </a:xfrm>
          <a:prstGeom prst="roundRect">
            <a:avLst>
              <a:gd name="adj" fmla="val 13333"/>
            </a:avLst>
          </a:prstGeom>
          <a:solidFill>
            <a:srgbClr val="FFFFFF"/>
          </a:solidFill>
          <a:ln w="12700">
            <a:solidFill>
              <a:srgbClr val="E4E1DA"/>
            </a:solidFill>
            <a:prstDash val="solid"/>
          </a:ln>
        </p:spPr>
      </p:sp>
      <p:pic>
        <p:nvPicPr>
          <p:cNvPr id="5" name="Image 0" descr="icon_check.png"/>
          <p:cNvPicPr>
            <a:picLocks noChangeAspect="1"/>
          </p:cNvPicPr>
          <p:nvPr/>
        </p:nvPicPr>
        <p:blipFill>
          <a:blip r:embed="rId3"/>
          <a:stretch>
            <a:fillRect/>
          </a:stretch>
        </p:blipFill>
        <p:spPr>
          <a:xfrm>
            <a:off x="713232" y="1737360"/>
            <a:ext cx="274320" cy="274320"/>
          </a:xfrm>
          <a:prstGeom prst="rect">
            <a:avLst/>
          </a:prstGeom>
        </p:spPr>
      </p:pic>
      <p:sp>
        <p:nvSpPr>
          <p:cNvPr id="6" name="Text 3"/>
          <p:cNvSpPr/>
          <p:nvPr/>
        </p:nvSpPr>
        <p:spPr>
          <a:xfrm>
            <a:off x="1143000" y="160020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Centralized monitoring</a:t>
            </a:r>
            <a:endParaRPr lang="en-US" sz="1250" dirty="0"/>
          </a:p>
        </p:txBody>
      </p:sp>
      <p:sp>
        <p:nvSpPr>
          <p:cNvPr id="7" name="Shape 4"/>
          <p:cNvSpPr/>
          <p:nvPr/>
        </p:nvSpPr>
        <p:spPr>
          <a:xfrm>
            <a:off x="548640" y="2240280"/>
            <a:ext cx="5120640" cy="548640"/>
          </a:xfrm>
          <a:prstGeom prst="roundRect">
            <a:avLst>
              <a:gd name="adj" fmla="val 13333"/>
            </a:avLst>
          </a:prstGeom>
          <a:solidFill>
            <a:srgbClr val="FFFFFF"/>
          </a:solidFill>
          <a:ln w="12700">
            <a:solidFill>
              <a:srgbClr val="E4E1DA"/>
            </a:solidFill>
            <a:prstDash val="solid"/>
          </a:ln>
        </p:spPr>
      </p:sp>
      <p:pic>
        <p:nvPicPr>
          <p:cNvPr id="8" name="Image 1" descr="icon_check.png"/>
          <p:cNvPicPr>
            <a:picLocks noChangeAspect="1"/>
          </p:cNvPicPr>
          <p:nvPr/>
        </p:nvPicPr>
        <p:blipFill>
          <a:blip r:embed="rId3"/>
          <a:stretch>
            <a:fillRect/>
          </a:stretch>
        </p:blipFill>
        <p:spPr>
          <a:xfrm>
            <a:off x="713232" y="2377440"/>
            <a:ext cx="274320" cy="274320"/>
          </a:xfrm>
          <a:prstGeom prst="rect">
            <a:avLst/>
          </a:prstGeom>
        </p:spPr>
      </p:pic>
      <p:sp>
        <p:nvSpPr>
          <p:cNvPr id="9" name="Text 5"/>
          <p:cNvSpPr/>
          <p:nvPr/>
        </p:nvSpPr>
        <p:spPr>
          <a:xfrm>
            <a:off x="1143000" y="224028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Noise &amp; dust data management</a:t>
            </a:r>
            <a:endParaRPr lang="en-US" sz="1250" dirty="0"/>
          </a:p>
        </p:txBody>
      </p:sp>
      <p:sp>
        <p:nvSpPr>
          <p:cNvPr id="10" name="Shape 6"/>
          <p:cNvSpPr/>
          <p:nvPr/>
        </p:nvSpPr>
        <p:spPr>
          <a:xfrm>
            <a:off x="548640" y="2880360"/>
            <a:ext cx="5120640" cy="548640"/>
          </a:xfrm>
          <a:prstGeom prst="roundRect">
            <a:avLst>
              <a:gd name="adj" fmla="val 13333"/>
            </a:avLst>
          </a:prstGeom>
          <a:solidFill>
            <a:srgbClr val="FFFFFF"/>
          </a:solidFill>
          <a:ln w="12700">
            <a:solidFill>
              <a:srgbClr val="E4E1DA"/>
            </a:solidFill>
            <a:prstDash val="solid"/>
          </a:ln>
        </p:spPr>
      </p:sp>
      <p:pic>
        <p:nvPicPr>
          <p:cNvPr id="11" name="Image 2" descr="icon_check.png"/>
          <p:cNvPicPr>
            <a:picLocks noChangeAspect="1"/>
          </p:cNvPicPr>
          <p:nvPr/>
        </p:nvPicPr>
        <p:blipFill>
          <a:blip r:embed="rId3"/>
          <a:stretch>
            <a:fillRect/>
          </a:stretch>
        </p:blipFill>
        <p:spPr>
          <a:xfrm>
            <a:off x="713232" y="3017520"/>
            <a:ext cx="274320" cy="274320"/>
          </a:xfrm>
          <a:prstGeom prst="rect">
            <a:avLst/>
          </a:prstGeom>
        </p:spPr>
      </p:pic>
      <p:sp>
        <p:nvSpPr>
          <p:cNvPr id="12" name="Text 7"/>
          <p:cNvSpPr/>
          <p:nvPr/>
        </p:nvSpPr>
        <p:spPr>
          <a:xfrm>
            <a:off x="1143000" y="288036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Automatic threshold checking</a:t>
            </a:r>
            <a:endParaRPr lang="en-US" sz="1250" dirty="0"/>
          </a:p>
        </p:txBody>
      </p:sp>
      <p:sp>
        <p:nvSpPr>
          <p:cNvPr id="13" name="Shape 8"/>
          <p:cNvSpPr/>
          <p:nvPr/>
        </p:nvSpPr>
        <p:spPr>
          <a:xfrm>
            <a:off x="548640" y="3520440"/>
            <a:ext cx="5120640" cy="548640"/>
          </a:xfrm>
          <a:prstGeom prst="roundRect">
            <a:avLst>
              <a:gd name="adj" fmla="val 13333"/>
            </a:avLst>
          </a:prstGeom>
          <a:solidFill>
            <a:srgbClr val="FFFFFF"/>
          </a:solidFill>
          <a:ln w="12700">
            <a:solidFill>
              <a:srgbClr val="E4E1DA"/>
            </a:solidFill>
            <a:prstDash val="solid"/>
          </a:ln>
        </p:spPr>
      </p:sp>
      <p:pic>
        <p:nvPicPr>
          <p:cNvPr id="14" name="Image 3" descr="icon_check.png"/>
          <p:cNvPicPr>
            <a:picLocks noChangeAspect="1"/>
          </p:cNvPicPr>
          <p:nvPr/>
        </p:nvPicPr>
        <p:blipFill>
          <a:blip r:embed="rId3"/>
          <a:stretch>
            <a:fillRect/>
          </a:stretch>
        </p:blipFill>
        <p:spPr>
          <a:xfrm>
            <a:off x="713232" y="3657600"/>
            <a:ext cx="274320" cy="274320"/>
          </a:xfrm>
          <a:prstGeom prst="rect">
            <a:avLst/>
          </a:prstGeom>
        </p:spPr>
      </p:pic>
      <p:sp>
        <p:nvSpPr>
          <p:cNvPr id="15" name="Text 9"/>
          <p:cNvSpPr/>
          <p:nvPr/>
        </p:nvSpPr>
        <p:spPr>
          <a:xfrm>
            <a:off x="1143000" y="352044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Violation detection</a:t>
            </a:r>
            <a:endParaRPr lang="en-US" sz="1250" dirty="0"/>
          </a:p>
        </p:txBody>
      </p:sp>
      <p:sp>
        <p:nvSpPr>
          <p:cNvPr id="16" name="Shape 10"/>
          <p:cNvSpPr/>
          <p:nvPr/>
        </p:nvSpPr>
        <p:spPr>
          <a:xfrm>
            <a:off x="548640" y="4160520"/>
            <a:ext cx="5120640" cy="548640"/>
          </a:xfrm>
          <a:prstGeom prst="roundRect">
            <a:avLst>
              <a:gd name="adj" fmla="val 13333"/>
            </a:avLst>
          </a:prstGeom>
          <a:solidFill>
            <a:srgbClr val="FFFFFF"/>
          </a:solidFill>
          <a:ln w="12700">
            <a:solidFill>
              <a:srgbClr val="E4E1DA"/>
            </a:solidFill>
            <a:prstDash val="solid"/>
          </a:ln>
        </p:spPr>
      </p:sp>
      <p:pic>
        <p:nvPicPr>
          <p:cNvPr id="17" name="Image 4" descr="icon_check.png"/>
          <p:cNvPicPr>
            <a:picLocks noChangeAspect="1"/>
          </p:cNvPicPr>
          <p:nvPr/>
        </p:nvPicPr>
        <p:blipFill>
          <a:blip r:embed="rId3"/>
          <a:stretch>
            <a:fillRect/>
          </a:stretch>
        </p:blipFill>
        <p:spPr>
          <a:xfrm>
            <a:off x="713232" y="4297680"/>
            <a:ext cx="274320" cy="274320"/>
          </a:xfrm>
          <a:prstGeom prst="rect">
            <a:avLst/>
          </a:prstGeom>
        </p:spPr>
      </p:pic>
      <p:sp>
        <p:nvSpPr>
          <p:cNvPr id="18" name="Text 11"/>
          <p:cNvSpPr/>
          <p:nvPr/>
        </p:nvSpPr>
        <p:spPr>
          <a:xfrm>
            <a:off x="1143000" y="416052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Dashboard visualization</a:t>
            </a:r>
            <a:endParaRPr lang="en-US" sz="1250" dirty="0"/>
          </a:p>
        </p:txBody>
      </p:sp>
      <p:sp>
        <p:nvSpPr>
          <p:cNvPr id="19" name="Shape 12"/>
          <p:cNvSpPr/>
          <p:nvPr/>
        </p:nvSpPr>
        <p:spPr>
          <a:xfrm>
            <a:off x="5943600" y="1600200"/>
            <a:ext cx="5120640" cy="548640"/>
          </a:xfrm>
          <a:prstGeom prst="roundRect">
            <a:avLst>
              <a:gd name="adj" fmla="val 13333"/>
            </a:avLst>
          </a:prstGeom>
          <a:solidFill>
            <a:srgbClr val="FFFFFF"/>
          </a:solidFill>
          <a:ln w="12700">
            <a:solidFill>
              <a:srgbClr val="E4E1DA"/>
            </a:solidFill>
            <a:prstDash val="solid"/>
          </a:ln>
        </p:spPr>
      </p:sp>
      <p:pic>
        <p:nvPicPr>
          <p:cNvPr id="20" name="Image 5" descr="icon_check.png"/>
          <p:cNvPicPr>
            <a:picLocks noChangeAspect="1"/>
          </p:cNvPicPr>
          <p:nvPr/>
        </p:nvPicPr>
        <p:blipFill>
          <a:blip r:embed="rId3"/>
          <a:stretch>
            <a:fillRect/>
          </a:stretch>
        </p:blipFill>
        <p:spPr>
          <a:xfrm>
            <a:off x="6108192" y="1737360"/>
            <a:ext cx="274320" cy="274320"/>
          </a:xfrm>
          <a:prstGeom prst="rect">
            <a:avLst/>
          </a:prstGeom>
        </p:spPr>
      </p:pic>
      <p:sp>
        <p:nvSpPr>
          <p:cNvPr id="21" name="Text 13"/>
          <p:cNvSpPr/>
          <p:nvPr/>
        </p:nvSpPr>
        <p:spPr>
          <a:xfrm>
            <a:off x="6537960" y="160020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Historical analysis</a:t>
            </a:r>
            <a:endParaRPr lang="en-US" sz="1250" dirty="0"/>
          </a:p>
        </p:txBody>
      </p:sp>
      <p:sp>
        <p:nvSpPr>
          <p:cNvPr id="22" name="Shape 14"/>
          <p:cNvSpPr/>
          <p:nvPr/>
        </p:nvSpPr>
        <p:spPr>
          <a:xfrm>
            <a:off x="5943600" y="2240280"/>
            <a:ext cx="5120640" cy="548640"/>
          </a:xfrm>
          <a:prstGeom prst="roundRect">
            <a:avLst>
              <a:gd name="adj" fmla="val 13333"/>
            </a:avLst>
          </a:prstGeom>
          <a:solidFill>
            <a:srgbClr val="FFFFFF"/>
          </a:solidFill>
          <a:ln w="12700">
            <a:solidFill>
              <a:srgbClr val="E4E1DA"/>
            </a:solidFill>
            <a:prstDash val="solid"/>
          </a:ln>
        </p:spPr>
      </p:sp>
      <p:pic>
        <p:nvPicPr>
          <p:cNvPr id="23" name="Image 6" descr="icon_check.png"/>
          <p:cNvPicPr>
            <a:picLocks noChangeAspect="1"/>
          </p:cNvPicPr>
          <p:nvPr/>
        </p:nvPicPr>
        <p:blipFill>
          <a:blip r:embed="rId3"/>
          <a:stretch>
            <a:fillRect/>
          </a:stretch>
        </p:blipFill>
        <p:spPr>
          <a:xfrm>
            <a:off x="6108192" y="2377440"/>
            <a:ext cx="274320" cy="274320"/>
          </a:xfrm>
          <a:prstGeom prst="rect">
            <a:avLst/>
          </a:prstGeom>
        </p:spPr>
      </p:pic>
      <p:sp>
        <p:nvSpPr>
          <p:cNvPr id="24" name="Text 15"/>
          <p:cNvSpPr/>
          <p:nvPr/>
        </p:nvSpPr>
        <p:spPr>
          <a:xfrm>
            <a:off x="6537960" y="224028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Alerts</a:t>
            </a:r>
            <a:endParaRPr lang="en-US" sz="1250" dirty="0"/>
          </a:p>
        </p:txBody>
      </p:sp>
      <p:sp>
        <p:nvSpPr>
          <p:cNvPr id="25" name="Shape 16"/>
          <p:cNvSpPr/>
          <p:nvPr/>
        </p:nvSpPr>
        <p:spPr>
          <a:xfrm>
            <a:off x="5943600" y="2880360"/>
            <a:ext cx="5120640" cy="548640"/>
          </a:xfrm>
          <a:prstGeom prst="roundRect">
            <a:avLst>
              <a:gd name="adj" fmla="val 13333"/>
            </a:avLst>
          </a:prstGeom>
          <a:solidFill>
            <a:srgbClr val="FFFFFF"/>
          </a:solidFill>
          <a:ln w="12700">
            <a:solidFill>
              <a:srgbClr val="E4E1DA"/>
            </a:solidFill>
            <a:prstDash val="solid"/>
          </a:ln>
        </p:spPr>
      </p:sp>
      <p:pic>
        <p:nvPicPr>
          <p:cNvPr id="26" name="Image 7" descr="icon_check.png"/>
          <p:cNvPicPr>
            <a:picLocks noChangeAspect="1"/>
          </p:cNvPicPr>
          <p:nvPr/>
        </p:nvPicPr>
        <p:blipFill>
          <a:blip r:embed="rId3"/>
          <a:stretch>
            <a:fillRect/>
          </a:stretch>
        </p:blipFill>
        <p:spPr>
          <a:xfrm>
            <a:off x="6108192" y="3017520"/>
            <a:ext cx="274320" cy="274320"/>
          </a:xfrm>
          <a:prstGeom prst="rect">
            <a:avLst/>
          </a:prstGeom>
        </p:spPr>
      </p:pic>
      <p:sp>
        <p:nvSpPr>
          <p:cNvPr id="27" name="Text 17"/>
          <p:cNvSpPr/>
          <p:nvPr/>
        </p:nvSpPr>
        <p:spPr>
          <a:xfrm>
            <a:off x="6537960" y="288036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Compliance reports</a:t>
            </a:r>
            <a:endParaRPr lang="en-US" sz="1250" dirty="0"/>
          </a:p>
        </p:txBody>
      </p:sp>
      <p:sp>
        <p:nvSpPr>
          <p:cNvPr id="28" name="Shape 18"/>
          <p:cNvSpPr/>
          <p:nvPr/>
        </p:nvSpPr>
        <p:spPr>
          <a:xfrm>
            <a:off x="5943600" y="3520440"/>
            <a:ext cx="5120640" cy="548640"/>
          </a:xfrm>
          <a:prstGeom prst="roundRect">
            <a:avLst>
              <a:gd name="adj" fmla="val 13333"/>
            </a:avLst>
          </a:prstGeom>
          <a:solidFill>
            <a:srgbClr val="FFFFFF"/>
          </a:solidFill>
          <a:ln w="12700">
            <a:solidFill>
              <a:srgbClr val="E4E1DA"/>
            </a:solidFill>
            <a:prstDash val="solid"/>
          </a:ln>
        </p:spPr>
      </p:sp>
      <p:pic>
        <p:nvPicPr>
          <p:cNvPr id="29" name="Image 8" descr="icon_check.png"/>
          <p:cNvPicPr>
            <a:picLocks noChangeAspect="1"/>
          </p:cNvPicPr>
          <p:nvPr/>
        </p:nvPicPr>
        <p:blipFill>
          <a:blip r:embed="rId3"/>
          <a:stretch>
            <a:fillRect/>
          </a:stretch>
        </p:blipFill>
        <p:spPr>
          <a:xfrm>
            <a:off x="6108192" y="3657600"/>
            <a:ext cx="274320" cy="274320"/>
          </a:xfrm>
          <a:prstGeom prst="rect">
            <a:avLst/>
          </a:prstGeom>
        </p:spPr>
      </p:pic>
      <p:sp>
        <p:nvSpPr>
          <p:cNvPr id="30" name="Text 19"/>
          <p:cNvSpPr/>
          <p:nvPr/>
        </p:nvSpPr>
        <p:spPr>
          <a:xfrm>
            <a:off x="6537960" y="3520440"/>
            <a:ext cx="4389120" cy="548640"/>
          </a:xfrm>
          <a:prstGeom prst="rect">
            <a:avLst/>
          </a:prstGeom>
          <a:noFill/>
          <a:ln/>
        </p:spPr>
        <p:txBody>
          <a:bodyPr wrap="square" rtlCol="0" anchor="ctr"/>
          <a:lstStyle/>
          <a:p>
            <a:pPr marL="0" indent="0">
              <a:buNone/>
            </a:pPr>
            <a:r>
              <a:rPr lang="en-US" sz="1250" dirty="0">
                <a:solidFill>
                  <a:srgbClr val="1E2024"/>
                </a:solidFill>
                <a:latin typeface="Calibri" pitchFamily="34" charset="0"/>
                <a:ea typeface="Calibri" pitchFamily="34" charset="-122"/>
                <a:cs typeface="Calibri" pitchFamily="34" charset="-120"/>
              </a:rPr>
              <a:t>AI-based anomaly detection</a:t>
            </a:r>
            <a:endParaRPr lang="en-US" sz="1250" dirty="0"/>
          </a:p>
        </p:txBody>
      </p:sp>
      <p:sp>
        <p:nvSpPr>
          <p:cNvPr id="31" name="Shape 20"/>
          <p:cNvSpPr/>
          <p:nvPr/>
        </p:nvSpPr>
        <p:spPr>
          <a:xfrm>
            <a:off x="548640" y="4892040"/>
            <a:ext cx="10424160" cy="1051560"/>
          </a:xfrm>
          <a:prstGeom prst="roundRect">
            <a:avLst>
              <a:gd name="adj" fmla="val 8696"/>
            </a:avLst>
          </a:prstGeom>
          <a:solidFill>
            <a:srgbClr val="2B2E33"/>
          </a:solidFill>
          <a:ln/>
        </p:spPr>
      </p:sp>
      <p:sp>
        <p:nvSpPr>
          <p:cNvPr id="32" name="Shape 21"/>
          <p:cNvSpPr/>
          <p:nvPr/>
        </p:nvSpPr>
        <p:spPr>
          <a:xfrm>
            <a:off x="777240" y="5074920"/>
            <a:ext cx="502920" cy="502920"/>
          </a:xfrm>
          <a:prstGeom prst="ellipse">
            <a:avLst/>
          </a:prstGeom>
          <a:solidFill>
            <a:srgbClr val="EA6A12"/>
          </a:solidFill>
          <a:ln/>
        </p:spPr>
      </p:sp>
      <p:pic>
        <p:nvPicPr>
          <p:cNvPr id="33" name="Image 9" descr="icon_future.png"/>
          <p:cNvPicPr>
            <a:picLocks noChangeAspect="1"/>
          </p:cNvPicPr>
          <p:nvPr/>
        </p:nvPicPr>
        <p:blipFill>
          <a:blip r:embed="rId4"/>
          <a:stretch>
            <a:fillRect/>
          </a:stretch>
        </p:blipFill>
        <p:spPr>
          <a:xfrm>
            <a:off x="907999" y="5205679"/>
            <a:ext cx="241402" cy="241402"/>
          </a:xfrm>
          <a:prstGeom prst="rect">
            <a:avLst/>
          </a:prstGeom>
        </p:spPr>
      </p:pic>
      <p:sp>
        <p:nvSpPr>
          <p:cNvPr id="34" name="Text 22"/>
          <p:cNvSpPr/>
          <p:nvPr/>
        </p:nvSpPr>
        <p:spPr>
          <a:xfrm>
            <a:off x="1417320" y="5029200"/>
            <a:ext cx="2743200" cy="274320"/>
          </a:xfrm>
          <a:prstGeom prst="rect">
            <a:avLst/>
          </a:prstGeom>
          <a:noFill/>
          <a:ln/>
        </p:spPr>
        <p:txBody>
          <a:bodyPr wrap="square" rtlCol="0" anchor="ctr"/>
          <a:lstStyle/>
          <a:p>
            <a:pPr marL="0" indent="0">
              <a:buNone/>
            </a:pPr>
            <a:r>
              <a:rPr lang="en-US" sz="1300" b="1" dirty="0">
                <a:solidFill>
                  <a:srgbClr val="F5F3EE"/>
                </a:solidFill>
                <a:latin typeface="Cambria" pitchFamily="34" charset="0"/>
                <a:ea typeface="Cambria" pitchFamily="34" charset="-122"/>
                <a:cs typeface="Cambria" pitchFamily="34" charset="-120"/>
              </a:rPr>
              <a:t>Future Scope</a:t>
            </a:r>
            <a:endParaRPr lang="en-US" sz="1300" dirty="0"/>
          </a:p>
        </p:txBody>
      </p:sp>
      <p:sp>
        <p:nvSpPr>
          <p:cNvPr id="35" name="Text 23"/>
          <p:cNvSpPr/>
          <p:nvPr/>
        </p:nvSpPr>
        <p:spPr>
          <a:xfrm>
            <a:off x="1417320" y="5303520"/>
            <a:ext cx="9235440" cy="457200"/>
          </a:xfrm>
          <a:prstGeom prst="rect">
            <a:avLst/>
          </a:prstGeom>
          <a:noFill/>
          <a:ln/>
        </p:spPr>
        <p:txBody>
          <a:bodyPr wrap="square" rtlCol="0" anchor="ctr"/>
          <a:lstStyle/>
          <a:p>
            <a:pPr marL="0" indent="0">
              <a:buNone/>
            </a:pPr>
            <a:r>
              <a:rPr lang="en-US" sz="1130" dirty="0">
                <a:solidFill>
                  <a:srgbClr val="D7D9DB"/>
                </a:solidFill>
                <a:latin typeface="Calibri" pitchFamily="34" charset="0"/>
                <a:ea typeface="Calibri" pitchFamily="34" charset="-122"/>
                <a:cs typeface="Calibri" pitchFamily="34" charset="-120"/>
              </a:rPr>
              <a:t>Mobile app, cloud deployment, GIS-based pollution mapping, multi-site monitoring and organization-wide analytics.</a:t>
            </a:r>
            <a:endParaRPr lang="en-US" sz="1130" dirty="0"/>
          </a:p>
        </p:txBody>
      </p:sp>
      <p:sp>
        <p:nvSpPr>
          <p:cNvPr id="37" name="Text 25"/>
          <p:cNvSpPr/>
          <p:nvPr/>
        </p:nvSpPr>
        <p:spPr>
          <a:xfrm>
            <a:off x="11274552" y="6492240"/>
            <a:ext cx="457200" cy="274320"/>
          </a:xfrm>
          <a:prstGeom prst="rect">
            <a:avLst/>
          </a:prstGeom>
          <a:noFill/>
          <a:ln/>
        </p:spPr>
        <p:txBody>
          <a:bodyPr wrap="square" rtlCol="0" anchor="ctr"/>
          <a:lstStyle/>
          <a:p>
            <a:pPr marL="0" indent="0" algn="r">
              <a:buNone/>
            </a:pPr>
            <a:r>
              <a:rPr lang="en-US" sz="1100" b="1" dirty="0">
                <a:solidFill>
                  <a:srgbClr val="52565C"/>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E33"/>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206240" cy="4206240"/>
          </a:xfrm>
          <a:prstGeom prst="ellipse">
            <a:avLst/>
          </a:prstGeom>
          <a:solidFill>
            <a:srgbClr val="1E2024"/>
          </a:solidFill>
          <a:ln/>
        </p:spPr>
      </p:sp>
      <p:sp>
        <p:nvSpPr>
          <p:cNvPr id="3" name="Shape 1"/>
          <p:cNvSpPr/>
          <p:nvPr/>
        </p:nvSpPr>
        <p:spPr>
          <a:xfrm>
            <a:off x="-1101090" y="4251960"/>
            <a:ext cx="3474720" cy="3474720"/>
          </a:xfrm>
          <a:prstGeom prst="ellipse">
            <a:avLst/>
          </a:prstGeom>
          <a:solidFill>
            <a:srgbClr val="1E2024"/>
          </a:solidFill>
          <a:ln/>
        </p:spPr>
      </p:sp>
      <p:sp>
        <p:nvSpPr>
          <p:cNvPr id="4" name="Shape 2"/>
          <p:cNvSpPr/>
          <p:nvPr/>
        </p:nvSpPr>
        <p:spPr>
          <a:xfrm>
            <a:off x="5660136" y="2103120"/>
            <a:ext cx="868680" cy="868680"/>
          </a:xfrm>
          <a:prstGeom prst="ellipse">
            <a:avLst/>
          </a:prstGeom>
          <a:solidFill>
            <a:srgbClr val="EA6A12"/>
          </a:solidFill>
          <a:ln/>
        </p:spPr>
      </p:sp>
      <p:pic>
        <p:nvPicPr>
          <p:cNvPr id="5" name="Image 0" descr="icon_hardhat.png"/>
          <p:cNvPicPr>
            <a:picLocks noChangeAspect="1"/>
          </p:cNvPicPr>
          <p:nvPr/>
        </p:nvPicPr>
        <p:blipFill>
          <a:blip r:embed="rId3"/>
          <a:stretch>
            <a:fillRect/>
          </a:stretch>
        </p:blipFill>
        <p:spPr>
          <a:xfrm>
            <a:off x="5885993" y="2328977"/>
            <a:ext cx="416966" cy="416966"/>
          </a:xfrm>
          <a:prstGeom prst="rect">
            <a:avLst/>
          </a:prstGeom>
        </p:spPr>
      </p:pic>
      <p:sp>
        <p:nvSpPr>
          <p:cNvPr id="6" name="Text 3"/>
          <p:cNvSpPr/>
          <p:nvPr/>
        </p:nvSpPr>
        <p:spPr>
          <a:xfrm>
            <a:off x="0" y="3246120"/>
            <a:ext cx="12188952" cy="822960"/>
          </a:xfrm>
          <a:prstGeom prst="rect">
            <a:avLst/>
          </a:prstGeom>
          <a:noFill/>
          <a:ln/>
        </p:spPr>
        <p:txBody>
          <a:bodyPr wrap="square" rtlCol="0" anchor="ctr"/>
          <a:lstStyle/>
          <a:p>
            <a:pPr marL="0" indent="0" algn="ctr">
              <a:buNone/>
            </a:pPr>
            <a:r>
              <a:rPr lang="en-US" sz="4000" b="1" dirty="0">
                <a:solidFill>
                  <a:srgbClr val="F5F3EE"/>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0" y="4023360"/>
            <a:ext cx="12188952" cy="457200"/>
          </a:xfrm>
          <a:prstGeom prst="rect">
            <a:avLst/>
          </a:prstGeom>
          <a:noFill/>
          <a:ln/>
        </p:spPr>
        <p:txBody>
          <a:bodyPr wrap="square" rtlCol="0" anchor="ctr"/>
          <a:lstStyle/>
          <a:p>
            <a:pPr marL="0" indent="0" algn="ctr">
              <a:buNone/>
            </a:pPr>
            <a:r>
              <a:rPr lang="en-US" sz="1500" i="1" dirty="0">
                <a:solidFill>
                  <a:srgbClr val="C9CDD1"/>
                </a:solidFill>
                <a:latin typeface="Calibri" pitchFamily="34" charset="0"/>
                <a:ea typeface="Calibri" pitchFamily="34" charset="-122"/>
                <a:cs typeface="Calibri" pitchFamily="34" charset="-120"/>
              </a:rPr>
              <a:t>Questions &amp; Discussion</a:t>
            </a:r>
            <a:endParaRPr lang="en-US" sz="1500" dirty="0"/>
          </a:p>
        </p:txBody>
      </p:sp>
      <p:sp>
        <p:nvSpPr>
          <p:cNvPr id="8" name="Shape 5"/>
          <p:cNvSpPr/>
          <p:nvPr/>
        </p:nvSpPr>
        <p:spPr>
          <a:xfrm>
            <a:off x="4265676" y="4709160"/>
            <a:ext cx="3657600" cy="0"/>
          </a:xfrm>
          <a:prstGeom prst="line">
            <a:avLst/>
          </a:prstGeom>
          <a:noFill/>
          <a:ln w="12700">
            <a:solidFill>
              <a:srgbClr val="45494F"/>
            </a:solidFill>
            <a:prstDash val="solid"/>
          </a:ln>
        </p:spPr>
      </p:sp>
      <p:sp>
        <p:nvSpPr>
          <p:cNvPr id="9" name="Text 6"/>
          <p:cNvSpPr/>
          <p:nvPr/>
        </p:nvSpPr>
        <p:spPr>
          <a:xfrm>
            <a:off x="0" y="4892040"/>
            <a:ext cx="12188952" cy="320040"/>
          </a:xfrm>
          <a:prstGeom prst="rect">
            <a:avLst/>
          </a:prstGeom>
          <a:noFill/>
          <a:ln/>
        </p:spPr>
        <p:txBody>
          <a:bodyPr wrap="square" rtlCol="0" anchor="ctr"/>
          <a:lstStyle/>
          <a:p>
            <a:pPr marL="0" indent="0" algn="ctr">
              <a:buNone/>
            </a:pPr>
            <a:r>
              <a:rPr lang="en-US" sz="1200" b="1" dirty="0">
                <a:solidFill>
                  <a:srgbClr val="C9CDD1"/>
                </a:solidFill>
                <a:latin typeface="Calibri" pitchFamily="34" charset="0"/>
                <a:ea typeface="Calibri" pitchFamily="34" charset="-122"/>
                <a:cs typeface="Calibri" pitchFamily="34" charset="-120"/>
              </a:rPr>
              <a:t>Construction Site Noise &amp; Dust Compliance Monitor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1058</Words>
  <Application>Microsoft Office PowerPoint</Application>
  <PresentationFormat>Widescreen</PresentationFormat>
  <Paragraphs>252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Rutuja Ghorband</cp:lastModifiedBy>
  <cp:revision>3</cp:revision>
  <dcterms:created xsi:type="dcterms:W3CDTF">2026-08-22T05:50:23Z</dcterms:created>
  <dcterms:modified xsi:type="dcterms:W3CDTF">2026-08-22T09:58:47Z</dcterms:modified>
</cp:coreProperties>
</file>